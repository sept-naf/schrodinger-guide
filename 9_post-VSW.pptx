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9" r:id="rId4"/>
    <p:sldId id="257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0BC8A-5103-3218-CED7-BB5EF14D7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4C815C-961E-5A11-AB6D-255C77C7A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027A5-7BF3-D5B8-AC84-A8043D14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C0399-D55A-5661-F8CA-5DCB9FAF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8073F-C367-4B67-05DD-2D080B97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83F1E-C307-23BB-D4E6-ECC203BB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7338AE-7684-38CC-5F64-9259C1B4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3F8D8-5043-003B-981C-C22BD8D7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FC0C1-80E5-E8FB-7705-6C1FE921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429BA-656D-77A0-0079-C8608196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92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0E37-323C-03CA-5ED4-CFC89B9F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607F6B-9C84-5456-BBA8-AA0B4C11E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2B8CD5-85A9-29EA-0B5A-5D7E8193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618BD2-D672-9646-5FC7-6F2ACCDD6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F0A4BA-2D2C-3204-2EAF-18BB946A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92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4B80C-D6F5-5B8F-6BB4-0F0074BD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0725CF-9982-A933-87EC-9102AFD58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8E6B9D-E279-D8CA-878E-23F963755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8B0C9C-9149-9097-81EF-4BA269FB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E1A41-35EC-0AED-F98D-7054E800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0FBEC1-5DD1-AB8F-7229-31CEADC6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24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9A5E8-45AA-8161-E92A-F4C3F39C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510505-15BB-43AE-3CC5-835F7942E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0918FF-630E-C2F1-DC6C-346115854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8235F2-5B8A-9143-71EB-45B005C5F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04C5BC-34D4-1CE1-8043-B5CAD0BA3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744CA2-9FF4-A008-2434-D0EA3849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CA5A68-6CAC-3D84-9210-2C260BE5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722C09-BC3A-2B79-249A-2CE997F2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94AF2-A660-8413-A1CF-F00D5A51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80885B-7B85-F9FF-FC09-94B1844B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385564-2D93-55D1-2CA8-3F1DDABE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97237E-58AC-45F4-3852-A06E667D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EF8308-5C3D-EEE8-4F82-70355F3A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57B2A0-20A1-07CF-DE99-F3D0F2C6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9FF2DD-45FC-8EA0-65FF-8E46AA93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47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FF862-C910-C099-7791-1972DCB32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8A07A-AE7D-F293-F0F6-A496A9E39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F323F2-9042-45E2-A5DE-BAC0F0C28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700A2E-8CDA-6A31-A214-FD72873F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BE8DD-396F-86CA-2A77-A9392061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47101B-A04E-75CA-C462-4ED4206D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238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486CD-02D2-EF8C-8692-07975143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FE4A4C-3DE5-05EF-D6E0-027EAB0D7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66F7ED-951A-9A22-7C52-2419A0542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D3D0B8-2F7F-7223-736F-674F4D7E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34D21-5708-3A12-F435-9F504CEE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9833D-702F-36BF-FCEE-9B282440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6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0F3CD-B770-42CE-FAEB-E03AA805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A48F54-AB79-152E-9AF3-F6BCA91B5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4515D-1A70-73FB-8C58-87626D40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55CC5-2982-532A-D4E0-4F958D30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E72287-FD46-4850-2A5A-739817ED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66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B7A78A-87F2-1FCD-B885-32E2CB181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9A7D7A-8D5A-0F0B-05B3-4B20C3444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1CFBEE-6DF7-74A6-F063-A93561A4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756DA3-9773-B907-2FBA-02A5E07E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EA7456-D00C-DFFE-4964-20CF2E5D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80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FEF0D1-F07D-6A84-E1C7-4B17F884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B239E6-EF2C-05E7-52C7-D816AF453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EA0BB2-3089-B2B6-3265-1A3682BEC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99DFE-18C8-462A-873C-E194F3DE245C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255C07-337E-C101-716F-302B6CD28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0E616-7124-110F-D1D7-C4C18500F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A9D34-0E7A-4F92-BD36-FFD6E8C44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37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91BC4-7722-8329-A086-46FE8637B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036" y="847322"/>
            <a:ext cx="7043928" cy="1016982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Virtual Screening Workflow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46080E-1698-A6BC-41C4-A8DB36325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412" y="2041612"/>
            <a:ext cx="1789176" cy="25603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1600" dirty="0" err="1"/>
              <a:t>Naf</a:t>
            </a:r>
            <a:r>
              <a:rPr lang="en-US" altLang="zh-CN" sz="1600" dirty="0"/>
              <a:t> Guo</a:t>
            </a:r>
            <a:endParaRPr lang="zh-CN" altLang="en-US" sz="16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6782D03-973B-A39E-A714-2671809B5974}"/>
              </a:ext>
            </a:extLst>
          </p:cNvPr>
          <p:cNvSpPr/>
          <p:nvPr/>
        </p:nvSpPr>
        <p:spPr>
          <a:xfrm>
            <a:off x="274320" y="2395728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Protein Preparation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D4AEB6-FA1B-D99F-99A2-135847F0FFCE}"/>
              </a:ext>
            </a:extLst>
          </p:cNvPr>
          <p:cNvSpPr/>
          <p:nvPr/>
        </p:nvSpPr>
        <p:spPr>
          <a:xfrm>
            <a:off x="2311911" y="2395728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Receptor Grid Generation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45C3FE-818E-89EA-1A8A-D86AF299FCF1}"/>
              </a:ext>
            </a:extLst>
          </p:cNvPr>
          <p:cNvSpPr/>
          <p:nvPr/>
        </p:nvSpPr>
        <p:spPr>
          <a:xfrm>
            <a:off x="2311911" y="3920800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Ligand Preparation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F605ED-654B-C97E-16B8-C633CB48FB0E}"/>
              </a:ext>
            </a:extLst>
          </p:cNvPr>
          <p:cNvSpPr/>
          <p:nvPr/>
        </p:nvSpPr>
        <p:spPr>
          <a:xfrm>
            <a:off x="274320" y="3920800"/>
            <a:ext cx="1362456" cy="8869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Ligand Filtering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E8720E0-7D7B-EB0A-5672-F7C2F0F046E3}"/>
              </a:ext>
            </a:extLst>
          </p:cNvPr>
          <p:cNvSpPr/>
          <p:nvPr/>
        </p:nvSpPr>
        <p:spPr>
          <a:xfrm>
            <a:off x="4238245" y="3193424"/>
            <a:ext cx="1362456" cy="8869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HTVS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ADFAD4-E4B6-80A9-BE0B-35D7E2241670}"/>
              </a:ext>
            </a:extLst>
          </p:cNvPr>
          <p:cNvSpPr/>
          <p:nvPr/>
        </p:nvSpPr>
        <p:spPr>
          <a:xfrm>
            <a:off x="6275836" y="3193424"/>
            <a:ext cx="1362456" cy="88696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D69A221-7119-AF2C-3B30-AB5C34EB73E7}"/>
              </a:ext>
            </a:extLst>
          </p:cNvPr>
          <p:cNvSpPr/>
          <p:nvPr/>
        </p:nvSpPr>
        <p:spPr>
          <a:xfrm>
            <a:off x="8255508" y="3193424"/>
            <a:ext cx="1362456" cy="8869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XP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32A7B6-4D44-5A64-4D71-3BE7610F4621}"/>
              </a:ext>
            </a:extLst>
          </p:cNvPr>
          <p:cNvSpPr/>
          <p:nvPr/>
        </p:nvSpPr>
        <p:spPr>
          <a:xfrm>
            <a:off x="10235180" y="3193424"/>
            <a:ext cx="1362456" cy="88696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GBSA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C4119A6-9642-23B3-022D-DC50939B44F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636776" y="2839212"/>
            <a:ext cx="675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9813083-88D1-0271-E8E6-E7F742F86A4F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1636776" y="4364284"/>
            <a:ext cx="675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49ACB7F4-0D04-16C1-38F6-D7AAF4E81C67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674367" y="2839212"/>
            <a:ext cx="563878" cy="7976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0183CBD3-5996-567A-018E-7E1E4268BBD3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674367" y="3636908"/>
            <a:ext cx="563878" cy="7273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04099D9-2236-ED12-DFB4-2ACC9C30F25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00701" y="3636908"/>
            <a:ext cx="675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2D4D269-80F5-CF42-D3EB-505CFDD64571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7638292" y="3636908"/>
            <a:ext cx="617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8647D84-1E51-53DE-5530-322FEFEC621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9617964" y="3636908"/>
            <a:ext cx="617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95AF82B-C0A5-7952-70B0-BB4850410741}"/>
              </a:ext>
            </a:extLst>
          </p:cNvPr>
          <p:cNvSpPr/>
          <p:nvPr/>
        </p:nvSpPr>
        <p:spPr>
          <a:xfrm>
            <a:off x="6275836" y="5137522"/>
            <a:ext cx="1362456" cy="8869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Final Selection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2E0A0FCD-1859-A2E1-1140-7A14F1BD37EE}"/>
              </a:ext>
            </a:extLst>
          </p:cNvPr>
          <p:cNvCxnSpPr>
            <a:stCxn id="12" idx="2"/>
            <a:endCxn id="27" idx="3"/>
          </p:cNvCxnSpPr>
          <p:nvPr/>
        </p:nvCxnSpPr>
        <p:spPr>
          <a:xfrm rot="5400000">
            <a:off x="8527043" y="3191641"/>
            <a:ext cx="1500614" cy="32781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C1B9C24-88FF-B4F6-F9E4-38FC1FEE77C9}"/>
              </a:ext>
            </a:extLst>
          </p:cNvPr>
          <p:cNvSpPr txBox="1"/>
          <p:nvPr/>
        </p:nvSpPr>
        <p:spPr>
          <a:xfrm>
            <a:off x="8068816" y="4558795"/>
            <a:ext cx="2578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Strain energy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Pains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Interaction fingerprint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Manually picking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…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18521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B46CBDA-897B-E286-E994-4C0CB3995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749433"/>
            <a:ext cx="9562012" cy="3359134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06771835-6F16-6619-1E43-60E834D1D148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E2A3FA-377F-DB6A-3F5E-67FAB0AC1D35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调整蛋白</a:t>
            </a:r>
            <a:r>
              <a:rPr lang="en-US" altLang="zh-CN" sz="2400" dirty="0"/>
              <a:t>-</a:t>
            </a:r>
            <a:r>
              <a:rPr lang="zh-CN" altLang="en-US" sz="2400" dirty="0"/>
              <a:t>配体复合物展示方式</a:t>
            </a:r>
          </a:p>
        </p:txBody>
      </p:sp>
    </p:spTree>
    <p:extLst>
      <p:ext uri="{BB962C8B-B14F-4D97-AF65-F5344CB8AC3E}">
        <p14:creationId xmlns:p14="http://schemas.microsoft.com/office/powerpoint/2010/main" val="365248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4692F2-7CDD-5AB9-9C9C-0EFB84276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67" y="1223764"/>
            <a:ext cx="5798684" cy="5075435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4F5B4AA9-9203-1601-0663-875F67160D86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806CE8-7B3C-49BC-D91D-DE674003C393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修改配体展示方式</a:t>
            </a:r>
          </a:p>
        </p:txBody>
      </p:sp>
    </p:spTree>
    <p:extLst>
      <p:ext uri="{BB962C8B-B14F-4D97-AF65-F5344CB8AC3E}">
        <p14:creationId xmlns:p14="http://schemas.microsoft.com/office/powerpoint/2010/main" val="426268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DA85F8-7CA8-423F-D8A7-45E6FEDE4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97" y="1256274"/>
            <a:ext cx="4371703" cy="22814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A0CFF5-0BF3-48ED-5BA4-23D198431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575" y="1256274"/>
            <a:ext cx="6483876" cy="4023431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D16DA098-5118-A558-AB0F-02EE45022784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FE3CD8-0B9F-9723-F4C0-7F4DE92988CE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计算应变能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FCB503E-4770-75E1-A2CC-F0508ABE00BE}"/>
              </a:ext>
            </a:extLst>
          </p:cNvPr>
          <p:cNvSpPr/>
          <p:nvPr/>
        </p:nvSpPr>
        <p:spPr>
          <a:xfrm>
            <a:off x="5312664" y="2075688"/>
            <a:ext cx="2167128" cy="32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3D577D-3375-DFDE-77F8-664C69A68E97}"/>
              </a:ext>
            </a:extLst>
          </p:cNvPr>
          <p:cNvSpPr txBox="1"/>
          <p:nvPr/>
        </p:nvSpPr>
        <p:spPr>
          <a:xfrm>
            <a:off x="200297" y="4846320"/>
            <a:ext cx="491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这里切记不要把蛋白也</a:t>
            </a:r>
            <a:r>
              <a:rPr lang="en-US" altLang="zh-CN" dirty="0"/>
              <a:t>select</a:t>
            </a:r>
            <a:r>
              <a:rPr lang="zh-CN" altLang="en-US" dirty="0"/>
              <a:t>，不然会很慢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9C1B46C-4701-C9E1-6EBF-E051BA550EEE}"/>
              </a:ext>
            </a:extLst>
          </p:cNvPr>
          <p:cNvCxnSpPr/>
          <p:nvPr/>
        </p:nvCxnSpPr>
        <p:spPr>
          <a:xfrm flipH="1">
            <a:off x="3483864" y="2523744"/>
            <a:ext cx="1828800" cy="2103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72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2C15C03-0BD8-3A1F-AAC8-B2E31BA7D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254" y="1091065"/>
            <a:ext cx="6407468" cy="4304105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3C083B6B-7601-0366-FB87-38BE20923FDD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866375-72FF-BC1F-D237-F99BD7B3910E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删除应变能过大的分子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58079D-9672-6825-B9D2-E325D70B1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431"/>
          <a:stretch/>
        </p:blipFill>
        <p:spPr>
          <a:xfrm>
            <a:off x="243838" y="1091065"/>
            <a:ext cx="2636140" cy="3359134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2B13B5-9DDC-D9E4-03EA-6BE407585783}"/>
              </a:ext>
            </a:extLst>
          </p:cNvPr>
          <p:cNvSpPr/>
          <p:nvPr/>
        </p:nvSpPr>
        <p:spPr>
          <a:xfrm>
            <a:off x="2102738" y="2231136"/>
            <a:ext cx="356616" cy="3017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2D9D50-774C-D707-C6F8-A04334534652}"/>
              </a:ext>
            </a:extLst>
          </p:cNvPr>
          <p:cNvSpPr txBox="1"/>
          <p:nvPr/>
        </p:nvSpPr>
        <p:spPr>
          <a:xfrm>
            <a:off x="243838" y="4937184"/>
            <a:ext cx="2636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点击齿轮，将</a:t>
            </a:r>
            <a:r>
              <a:rPr lang="en-US" altLang="zh-CN" dirty="0"/>
              <a:t>strain (kcal/mol) </a:t>
            </a:r>
            <a:r>
              <a:rPr lang="zh-CN" altLang="en-US" dirty="0"/>
              <a:t>在界面展示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2DC811F-DCAE-29A9-3B15-14723E7418EB}"/>
              </a:ext>
            </a:extLst>
          </p:cNvPr>
          <p:cNvCxnSpPr>
            <a:stCxn id="6" idx="2"/>
          </p:cNvCxnSpPr>
          <p:nvPr/>
        </p:nvCxnSpPr>
        <p:spPr>
          <a:xfrm flipH="1">
            <a:off x="1892426" y="2532888"/>
            <a:ext cx="388620" cy="24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F59C972-9AEE-9B96-56C6-684925843091}"/>
              </a:ext>
            </a:extLst>
          </p:cNvPr>
          <p:cNvSpPr txBox="1"/>
          <p:nvPr/>
        </p:nvSpPr>
        <p:spPr>
          <a:xfrm>
            <a:off x="8745092" y="5093136"/>
            <a:ext cx="278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排序，丢弃应变能过大的分子，如大于</a:t>
            </a:r>
            <a:r>
              <a:rPr lang="en-US" altLang="zh-CN" dirty="0"/>
              <a:t>12kcal/mol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25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B7FDC0-EC1C-61C0-8219-B2C00C34E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1201823"/>
            <a:ext cx="5244329" cy="29314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01B1A2A-A917-A820-64B3-2D1E1D6E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600" y="1201823"/>
            <a:ext cx="4984971" cy="4703511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060D845D-2D6E-E3BD-64DB-397C7CBE7898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BBC1FC-3E5A-1C7A-71CB-A37D7ADFE6D6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对剩余的分子聚类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6DE0257-8DCA-3A0B-AF3A-18D572C5FFEF}"/>
              </a:ext>
            </a:extLst>
          </p:cNvPr>
          <p:cNvSpPr/>
          <p:nvPr/>
        </p:nvSpPr>
        <p:spPr>
          <a:xfrm>
            <a:off x="6547104" y="2048256"/>
            <a:ext cx="3035808" cy="3389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3820EE-7231-BC3E-638C-D4B0505D0C72}"/>
              </a:ext>
            </a:extLst>
          </p:cNvPr>
          <p:cNvSpPr txBox="1"/>
          <p:nvPr/>
        </p:nvSpPr>
        <p:spPr>
          <a:xfrm>
            <a:off x="521208" y="4622263"/>
            <a:ext cx="572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Fingerprint Similarity panel</a:t>
            </a:r>
            <a:r>
              <a:rPr lang="zh-CN" altLang="en-US" dirty="0"/>
              <a:t>，将类型换为</a:t>
            </a:r>
            <a:r>
              <a:rPr lang="en-US" altLang="zh-CN" dirty="0"/>
              <a:t>Radial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250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1D8CD9-F744-CA0E-4F5F-BF4327417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4" y="1184512"/>
            <a:ext cx="4757599" cy="44889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D4BD5B-25B0-0B93-F179-48E072B06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792" y="1099770"/>
            <a:ext cx="5044334" cy="4782870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3DD498FB-4CBC-B3C3-219A-3F3C1534565E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C24A2C-9761-361D-519C-0C8AF11551F8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对剩余的分子聚类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B6487F0-98CD-39B1-EA22-C83EB3D166DB}"/>
              </a:ext>
            </a:extLst>
          </p:cNvPr>
          <p:cNvSpPr/>
          <p:nvPr/>
        </p:nvSpPr>
        <p:spPr>
          <a:xfrm>
            <a:off x="5532120" y="3941064"/>
            <a:ext cx="2249424" cy="2743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F940F21-60CC-947D-337D-4566CC7EB8DA}"/>
              </a:ext>
            </a:extLst>
          </p:cNvPr>
          <p:cNvSpPr/>
          <p:nvPr/>
        </p:nvSpPr>
        <p:spPr>
          <a:xfrm>
            <a:off x="5501639" y="2627376"/>
            <a:ext cx="2249424" cy="2743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651850-4E9D-3026-C694-1C7810786F11}"/>
              </a:ext>
            </a:extLst>
          </p:cNvPr>
          <p:cNvSpPr txBox="1"/>
          <p:nvPr/>
        </p:nvSpPr>
        <p:spPr>
          <a:xfrm>
            <a:off x="8698663" y="2579870"/>
            <a:ext cx="272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点击以下，计算聚类数目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FEB556-F9A5-94CC-4B12-EC595390F6AE}"/>
              </a:ext>
            </a:extLst>
          </p:cNvPr>
          <p:cNvSpPr txBox="1"/>
          <p:nvPr/>
        </p:nvSpPr>
        <p:spPr>
          <a:xfrm>
            <a:off x="8510993" y="3755058"/>
            <a:ext cx="3798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确认聚类数目，一般看</a:t>
            </a:r>
            <a:r>
              <a:rPr lang="en-US" altLang="zh-CN" dirty="0"/>
              <a:t>2000</a:t>
            </a:r>
            <a:r>
              <a:rPr lang="zh-CN" altLang="en-US" dirty="0"/>
              <a:t>个分子的时候我会将类数设定为</a:t>
            </a:r>
            <a:r>
              <a:rPr lang="en-US" altLang="zh-CN" dirty="0"/>
              <a:t>100-200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6D54E6A-6B4A-FDC7-D578-667697224060}"/>
              </a:ext>
            </a:extLst>
          </p:cNvPr>
          <p:cNvSpPr/>
          <p:nvPr/>
        </p:nvSpPr>
        <p:spPr>
          <a:xfrm>
            <a:off x="5532120" y="5020614"/>
            <a:ext cx="2249424" cy="2743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FF5CD2-FA0F-72B9-EF96-B07AD2500B58}"/>
              </a:ext>
            </a:extLst>
          </p:cNvPr>
          <p:cNvSpPr txBox="1"/>
          <p:nvPr/>
        </p:nvSpPr>
        <p:spPr>
          <a:xfrm>
            <a:off x="8602433" y="5110268"/>
            <a:ext cx="2724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确认无误后</a:t>
            </a:r>
            <a:r>
              <a:rPr lang="en-US" altLang="zh-CN" dirty="0"/>
              <a:t>apply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82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0C34D6-2844-AEB2-4ABC-CB7773C9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12" y="1162533"/>
            <a:ext cx="4409440" cy="5018639"/>
          </a:xfrm>
          <a:prstGeom prst="rect">
            <a:avLst/>
          </a:prstGeom>
        </p:spPr>
      </p:pic>
      <p:sp>
        <p:nvSpPr>
          <p:cNvPr id="2" name="矩形">
            <a:extLst>
              <a:ext uri="{FF2B5EF4-FFF2-40B4-BE49-F238E27FC236}">
                <a16:creationId xmlns:a16="http://schemas.microsoft.com/office/drawing/2014/main" id="{6B426E09-B4AE-B61D-15C5-47721AB37B02}"/>
              </a:ext>
            </a:extLst>
          </p:cNvPr>
          <p:cNvSpPr/>
          <p:nvPr/>
        </p:nvSpPr>
        <p:spPr>
          <a:xfrm flipV="1">
            <a:off x="408813" y="676828"/>
            <a:ext cx="11413996" cy="36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defTabSz="412750">
              <a:defRPr sz="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A60A8B-CAF9-DFB3-3FC8-EDB5C15C3EC0}"/>
              </a:ext>
            </a:extLst>
          </p:cNvPr>
          <p:cNvSpPr txBox="1"/>
          <p:nvPr/>
        </p:nvSpPr>
        <p:spPr>
          <a:xfrm>
            <a:off x="408812" y="98884"/>
            <a:ext cx="6217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展示</a:t>
            </a:r>
            <a:r>
              <a:rPr lang="en-US" altLang="zh-CN" sz="2400" dirty="0"/>
              <a:t>Stars</a:t>
            </a:r>
            <a:r>
              <a:rPr lang="zh-CN" altLang="en-US" sz="2400" dirty="0"/>
              <a:t>记录挑选的分子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42CC285-DF30-E294-8640-FD7FCEB1D903}"/>
              </a:ext>
            </a:extLst>
          </p:cNvPr>
          <p:cNvSpPr/>
          <p:nvPr/>
        </p:nvSpPr>
        <p:spPr>
          <a:xfrm>
            <a:off x="4004690" y="1417320"/>
            <a:ext cx="356616" cy="3017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803CE2-9EBF-FC48-0C64-58FE9843C35A}"/>
              </a:ext>
            </a:extLst>
          </p:cNvPr>
          <p:cNvSpPr txBox="1"/>
          <p:nvPr/>
        </p:nvSpPr>
        <p:spPr>
          <a:xfrm>
            <a:off x="5212553" y="1417320"/>
            <a:ext cx="4322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点击齿轮，找到并展示</a:t>
            </a:r>
            <a:r>
              <a:rPr lang="en-US" altLang="zh-CN" dirty="0"/>
              <a:t>Star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BB918F-213E-C01B-7657-DF2CE69FC16B}"/>
              </a:ext>
            </a:extLst>
          </p:cNvPr>
          <p:cNvSpPr txBox="1"/>
          <p:nvPr/>
        </p:nvSpPr>
        <p:spPr>
          <a:xfrm>
            <a:off x="5212553" y="3810000"/>
            <a:ext cx="4322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挑选自己认为好的分子后可以给</a:t>
            </a:r>
            <a:r>
              <a:rPr lang="en-US" altLang="zh-CN" dirty="0"/>
              <a:t>star</a:t>
            </a:r>
            <a:r>
              <a:rPr lang="zh-CN" altLang="en-US" dirty="0"/>
              <a:t>赋值来记录对这个分子的信心</a:t>
            </a:r>
          </a:p>
        </p:txBody>
      </p:sp>
    </p:spTree>
    <p:extLst>
      <p:ext uri="{BB962C8B-B14F-4D97-AF65-F5344CB8AC3E}">
        <p14:creationId xmlns:p14="http://schemas.microsoft.com/office/powerpoint/2010/main" val="3712971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164</Words>
  <Application>Microsoft Office PowerPoint</Application>
  <PresentationFormat>宽屏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主题​​</vt:lpstr>
      <vt:lpstr>Virtual Screening Workflow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 郭</dc:creator>
  <cp:lastModifiedBy>昱 郭</cp:lastModifiedBy>
  <cp:revision>19</cp:revision>
  <dcterms:created xsi:type="dcterms:W3CDTF">2024-09-22T07:18:43Z</dcterms:created>
  <dcterms:modified xsi:type="dcterms:W3CDTF">2024-09-26T15:12:17Z</dcterms:modified>
</cp:coreProperties>
</file>