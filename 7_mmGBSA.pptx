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0321C8-B0D6-2ADC-94C7-E4AFA0B317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00BDD3F-95FD-F2D2-0552-50E593F76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2ECF37-8B2F-F650-B8FE-4DF6A71A7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58FA-9D47-45CB-A365-881F20F370B3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1117AC-93C1-9EF1-5712-F8692C6B2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18A8EB-AEA2-006C-38A0-116D80F52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00310-A186-48CC-87D5-327223E4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0536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E51ED3-629D-0C23-DC3B-D858DE2B8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665591-049F-D1FE-E3E9-5D3B87128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02E41C-27FA-13CB-5E93-785ACB91C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58FA-9D47-45CB-A365-881F20F370B3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15B468-20B5-43CB-9967-AD01164E2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EB92E0-A676-EC21-A35F-EF383EB5D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00310-A186-48CC-87D5-327223E4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5213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CB9286-00E7-5A0E-2C2C-3CC1319CF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E38F7B-E4D0-CFC2-183F-888D5C2B2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C866D1-BA65-04C2-FB05-C90B300E4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58FA-9D47-45CB-A365-881F20F370B3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05B2D2-7791-725C-A532-40BBBEFA4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8E3C0D-5E06-83C3-0A34-278A4E559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00310-A186-48CC-87D5-327223E4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468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28AE6B-3204-6521-BDCC-5FD814F9F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654FEE-05C5-AAF3-487C-A7862402C8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D84BAEC-5555-D079-3338-66A65BB8F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5EC08B-FA8F-C6F4-0203-B8DFEF032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58FA-9D47-45CB-A365-881F20F370B3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B35F762-C9AB-003F-E4FF-78CD587F4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9921C7-D599-BB2A-C68B-01BDD6BA9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00310-A186-48CC-87D5-327223E4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030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172693-D417-80AD-1D7C-F576636E9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6303C2-1AC4-5224-C959-CE8029B01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B0C0168-FB20-586F-B462-777E36DE6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E545DB8-ABFA-0E16-F2FC-BD90DD7750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3C6D874-FC3D-CA88-53DA-B9360D7DA4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B23207F-C815-73BF-E054-1969A75ED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58FA-9D47-45CB-A365-881F20F370B3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0132161-AC54-0655-F088-C2EB44796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98F7E77-FE72-6312-568D-FED858BFC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00310-A186-48CC-87D5-327223E4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958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556C66-1A94-4D3A-5A88-FDE5DA094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A347461-0300-0DEF-A5D6-2303295AF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58FA-9D47-45CB-A365-881F20F370B3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5EC62A5-7C22-D1F3-B60F-5ACA6997E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9852400-DD20-3D0A-781C-2B9FD5701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00310-A186-48CC-87D5-327223E4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6428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29E11C0-66A3-EAD1-4CA3-FE9436EAF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58FA-9D47-45CB-A365-881F20F370B3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159B1EC-893D-77A0-0BAA-AD61FAA64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C01295-D020-7C75-F915-A53AB7B2B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00310-A186-48CC-87D5-327223E4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1942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81C78-7F2D-FF44-3A64-ED0F8A8D1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E2465A-9A6B-F635-FB81-724500220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D4CFFD-521C-F478-FB61-5C485D7F71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B69509-C7CC-FD25-7CC2-8BCFB2B8B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58FA-9D47-45CB-A365-881F20F370B3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06DEE6-48EE-7633-2366-B4BECF794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870851-FF8C-19C6-2A32-58CAC4E15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00310-A186-48CC-87D5-327223E4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4448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E10604-BDA2-8679-2D87-482903E58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FA99034-A8C7-2B58-9DD9-DDD216606E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8FBCD0-ACD5-3EE9-CDBD-AF841E3039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FDB997A-3352-F9FE-3673-D3FE6BA2A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58FA-9D47-45CB-A365-881F20F370B3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3C731A-E8ED-E8B0-F6DC-660240943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7AF8BB-32AB-8251-EB78-8B1F7809C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00310-A186-48CC-87D5-327223E4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5630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39B0A7-3B96-7F3D-221E-A56474258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904FA42-647E-77F4-6C19-99A4B3332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529524-B9BD-FE03-7957-860B3B347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58FA-9D47-45CB-A365-881F20F370B3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7718B2-AA0F-64E1-8613-EB28B8B7C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37CA48-FB13-BCDF-6A28-B58E43B9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00310-A186-48CC-87D5-327223E4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9127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AA8774E-1D29-EA3D-74DD-5A0F1E796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283997-4C4B-2AE2-9000-65B4923F36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12C04E-E109-FBA1-0729-181E08BC4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58FA-9D47-45CB-A365-881F20F370B3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DCAA15-C24D-33D5-513D-D4E6B6D3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760B83-147A-E64F-88CF-104588A60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00310-A186-48CC-87D5-327223E4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6221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58AFF8A-259D-5B06-038B-1E76B9738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34B7F5-8454-5065-9FDD-E13A08B829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9E17BB-F39B-F8DF-AEF6-9B6FA11EB1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A58FA-9D47-45CB-A365-881F20F370B3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DC5766-66F0-41F4-F377-FA3AE5BE71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27E623-C148-69A5-2F66-E7F4BC63C0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200310-A186-48CC-87D5-327223E47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1366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091BC4-7722-8329-A086-46FE8637B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74036" y="847322"/>
            <a:ext cx="7043928" cy="1016982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MM-GBSA</a:t>
            </a:r>
            <a:endParaRPr lang="zh-CN" altLang="en-US" sz="40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246080E-1698-A6BC-41C4-A8DB363254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01412" y="2041612"/>
            <a:ext cx="1789176" cy="256033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sz="1600" dirty="0" err="1"/>
              <a:t>Naf</a:t>
            </a:r>
            <a:r>
              <a:rPr lang="en-US" altLang="zh-CN" sz="1600" dirty="0"/>
              <a:t> Guo</a:t>
            </a:r>
            <a:endParaRPr lang="zh-CN" altLang="en-US" sz="16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D55433C-C4F3-BCCE-1240-FFA4A3588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032" y="2474953"/>
            <a:ext cx="6345936" cy="322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521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54C3F5B-9523-E283-00D0-BFE4BAD32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2" y="1747633"/>
            <a:ext cx="5748338" cy="3362734"/>
          </a:xfrm>
          <a:prstGeom prst="rect">
            <a:avLst/>
          </a:prstGeom>
        </p:spPr>
      </p:pic>
      <p:sp>
        <p:nvSpPr>
          <p:cNvPr id="10" name="矩形">
            <a:extLst>
              <a:ext uri="{FF2B5EF4-FFF2-40B4-BE49-F238E27FC236}">
                <a16:creationId xmlns:a16="http://schemas.microsoft.com/office/drawing/2014/main" id="{63A1E24C-CD4A-D6F4-6122-25AC799BEEEE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E336FBB-5EC0-E52F-3EB8-804D8552E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341" y="1048204"/>
            <a:ext cx="4539617" cy="5236213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13859D31-9B69-084F-2E50-96C43F89D415}"/>
              </a:ext>
            </a:extLst>
          </p:cNvPr>
          <p:cNvSpPr txBox="1"/>
          <p:nvPr/>
        </p:nvSpPr>
        <p:spPr>
          <a:xfrm>
            <a:off x="408813" y="98884"/>
            <a:ext cx="3877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MM-GBSA</a:t>
            </a:r>
            <a:r>
              <a:rPr lang="zh-CN" altLang="en-US" sz="2400" dirty="0"/>
              <a:t>任务栏</a:t>
            </a:r>
          </a:p>
        </p:txBody>
      </p:sp>
    </p:spTree>
    <p:extLst>
      <p:ext uri="{BB962C8B-B14F-4D97-AF65-F5344CB8AC3E}">
        <p14:creationId xmlns:p14="http://schemas.microsoft.com/office/powerpoint/2010/main" val="3472057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">
            <a:extLst>
              <a:ext uri="{FF2B5EF4-FFF2-40B4-BE49-F238E27FC236}">
                <a16:creationId xmlns:a16="http://schemas.microsoft.com/office/drawing/2014/main" id="{63A1E24C-CD4A-D6F4-6122-25AC799BEEEE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DFFAF71-C476-209A-D1B8-43E900D29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21" y="1260842"/>
            <a:ext cx="6456287" cy="41615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8090B19-6EAF-2170-08CC-C54F00B2A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669" y="1048204"/>
            <a:ext cx="4539617" cy="523621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831CB2B-7C50-7025-3622-1B44F681B493}"/>
              </a:ext>
            </a:extLst>
          </p:cNvPr>
          <p:cNvSpPr txBox="1"/>
          <p:nvPr/>
        </p:nvSpPr>
        <p:spPr>
          <a:xfrm>
            <a:off x="408813" y="98884"/>
            <a:ext cx="3877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受体与配体选择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A4760462-5AFC-3336-4D66-1B44DDFE98DE}"/>
              </a:ext>
            </a:extLst>
          </p:cNvPr>
          <p:cNvCxnSpPr/>
          <p:nvPr/>
        </p:nvCxnSpPr>
        <p:spPr>
          <a:xfrm flipH="1" flipV="1">
            <a:off x="2743200" y="2057400"/>
            <a:ext cx="5047488" cy="9601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CD27799-5DA5-CC8A-4826-0254C74A1A1E}"/>
              </a:ext>
            </a:extLst>
          </p:cNvPr>
          <p:cNvCxnSpPr>
            <a:cxnSpLocks/>
          </p:cNvCxnSpPr>
          <p:nvPr/>
        </p:nvCxnSpPr>
        <p:spPr>
          <a:xfrm flipH="1" flipV="1">
            <a:off x="2816352" y="2249424"/>
            <a:ext cx="4974336" cy="17373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C9CC97E5-9A9D-00AF-4A5F-42F6CA091A01}"/>
              </a:ext>
            </a:extLst>
          </p:cNvPr>
          <p:cNvSpPr txBox="1"/>
          <p:nvPr/>
        </p:nvSpPr>
        <p:spPr>
          <a:xfrm>
            <a:off x="525157" y="2474893"/>
            <a:ext cx="21586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</a:rPr>
              <a:t>使用</a:t>
            </a:r>
            <a:r>
              <a:rPr lang="en-US" altLang="zh-CN" sz="1400" dirty="0">
                <a:solidFill>
                  <a:schemeClr val="bg1"/>
                </a:solidFill>
              </a:rPr>
              <a:t>included entry</a:t>
            </a:r>
            <a:r>
              <a:rPr lang="zh-CN" altLang="en-US" sz="1400" dirty="0">
                <a:solidFill>
                  <a:schemeClr val="bg1"/>
                </a:solidFill>
              </a:rPr>
              <a:t>选择受体</a:t>
            </a:r>
            <a:endParaRPr lang="en-US" altLang="zh-CN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</a:rPr>
              <a:t>使用</a:t>
            </a:r>
            <a:r>
              <a:rPr lang="en-US" altLang="zh-CN" sz="1400" dirty="0">
                <a:solidFill>
                  <a:schemeClr val="bg1"/>
                </a:solidFill>
              </a:rPr>
              <a:t>selected entries</a:t>
            </a:r>
            <a:r>
              <a:rPr lang="zh-CN" altLang="en-US" sz="1400" dirty="0">
                <a:solidFill>
                  <a:schemeClr val="bg1"/>
                </a:solidFill>
              </a:rPr>
              <a:t>选择配体，可多选</a:t>
            </a:r>
          </a:p>
        </p:txBody>
      </p:sp>
    </p:spTree>
    <p:extLst>
      <p:ext uri="{BB962C8B-B14F-4D97-AF65-F5344CB8AC3E}">
        <p14:creationId xmlns:p14="http://schemas.microsoft.com/office/powerpoint/2010/main" val="311112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">
            <a:extLst>
              <a:ext uri="{FF2B5EF4-FFF2-40B4-BE49-F238E27FC236}">
                <a16:creationId xmlns:a16="http://schemas.microsoft.com/office/drawing/2014/main" id="{63A1E24C-CD4A-D6F4-6122-25AC799BEEEE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28B4B15-022C-C666-B072-D260D47E3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77" y="1082466"/>
            <a:ext cx="4301490" cy="496154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2456547-B2A7-C8AE-1EF6-A5ADC7985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5433" y="1082466"/>
            <a:ext cx="4301490" cy="496154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52A08F0-FF95-F619-17A8-D8CCFA9886F0}"/>
              </a:ext>
            </a:extLst>
          </p:cNvPr>
          <p:cNvSpPr txBox="1"/>
          <p:nvPr/>
        </p:nvSpPr>
        <p:spPr>
          <a:xfrm>
            <a:off x="408813" y="98884"/>
            <a:ext cx="3877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溶剂化模型与优化选项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617FA1F-FB1B-184C-C4C3-F310DB5F7F3D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2359152" y="2523744"/>
            <a:ext cx="2351532" cy="1060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A6835D34-A146-376D-A72D-218DEB70C9B3}"/>
              </a:ext>
            </a:extLst>
          </p:cNvPr>
          <p:cNvSpPr txBox="1"/>
          <p:nvPr/>
        </p:nvSpPr>
        <p:spPr>
          <a:xfrm>
            <a:off x="4710684" y="1985135"/>
            <a:ext cx="27706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三种溶剂化模型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模拟亲水环境的</a:t>
            </a:r>
            <a:r>
              <a:rPr lang="en-US" altLang="zh-CN" sz="1600" dirty="0"/>
              <a:t>VSGB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真空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模拟亲脂环境的氯仿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073CA10-5165-7DB8-5F2C-3908246ED9BB}"/>
              </a:ext>
            </a:extLst>
          </p:cNvPr>
          <p:cNvSpPr txBox="1"/>
          <p:nvPr/>
        </p:nvSpPr>
        <p:spPr>
          <a:xfrm>
            <a:off x="4654296" y="5246495"/>
            <a:ext cx="27706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对蛋白质优化范围的处理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能量最小化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只优化侧链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只优化极性氢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600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AD4CE23-8EED-87EA-142F-E5A821CD06C6}"/>
              </a:ext>
            </a:extLst>
          </p:cNvPr>
          <p:cNvCxnSpPr/>
          <p:nvPr/>
        </p:nvCxnSpPr>
        <p:spPr>
          <a:xfrm flipH="1">
            <a:off x="7086600" y="5246495"/>
            <a:ext cx="676656" cy="139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B1C0DCDF-14B7-87D2-AAAA-4BED94D3B64E}"/>
              </a:ext>
            </a:extLst>
          </p:cNvPr>
          <p:cNvSpPr txBox="1"/>
          <p:nvPr/>
        </p:nvSpPr>
        <p:spPr>
          <a:xfrm>
            <a:off x="9693592" y="3774460"/>
            <a:ext cx="23770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如果想要优化蛋白，建议选择配体周围</a:t>
            </a:r>
            <a:r>
              <a:rPr lang="en-US" altLang="zh-CN" sz="1400" dirty="0"/>
              <a:t>4-6</a:t>
            </a:r>
            <a:r>
              <a:rPr lang="zh-CN" altLang="en-US" sz="1400" dirty="0"/>
              <a:t>埃内的残基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DD79655E-4242-ED8B-ED74-8028A9666CA5}"/>
              </a:ext>
            </a:extLst>
          </p:cNvPr>
          <p:cNvCxnSpPr/>
          <p:nvPr/>
        </p:nvCxnSpPr>
        <p:spPr>
          <a:xfrm flipH="1" flipV="1">
            <a:off x="7287768" y="4251960"/>
            <a:ext cx="475488" cy="91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DE01B003-55EC-D5BC-A7D6-D8A5340F3223}"/>
              </a:ext>
            </a:extLst>
          </p:cNvPr>
          <p:cNvSpPr txBox="1"/>
          <p:nvPr/>
        </p:nvSpPr>
        <p:spPr>
          <a:xfrm>
            <a:off x="4806696" y="3465626"/>
            <a:ext cx="27706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选择除了配体之外蛋白部分需要一起优化的范围，可以通过与配体的具体或者直接选择残基号。目前展示的方式不优化蛋白质坐标，而只优化配体坐标。</a:t>
            </a:r>
          </a:p>
        </p:txBody>
      </p:sp>
    </p:spTree>
    <p:extLst>
      <p:ext uri="{BB962C8B-B14F-4D97-AF65-F5344CB8AC3E}">
        <p14:creationId xmlns:p14="http://schemas.microsoft.com/office/powerpoint/2010/main" val="3627637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">
            <a:extLst>
              <a:ext uri="{FF2B5EF4-FFF2-40B4-BE49-F238E27FC236}">
                <a16:creationId xmlns:a16="http://schemas.microsoft.com/office/drawing/2014/main" id="{63A1E24C-CD4A-D6F4-6122-25AC799BEEEE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B08CE71-EAC4-5641-BAFD-A1EC494C4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39" y="1646055"/>
            <a:ext cx="6602617" cy="381924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3561E69-271F-E3B5-6B08-EB63A964BDBF}"/>
              </a:ext>
            </a:extLst>
          </p:cNvPr>
          <p:cNvSpPr txBox="1"/>
          <p:nvPr/>
        </p:nvSpPr>
        <p:spPr>
          <a:xfrm>
            <a:off x="408813" y="98884"/>
            <a:ext cx="3877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GBSA</a:t>
            </a:r>
            <a:r>
              <a:rPr lang="zh-CN" altLang="en-US" sz="2400" dirty="0"/>
              <a:t>能量计算部分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4E9A21D-5B67-D2AE-4DAD-D5FC384DC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8787" y="2287897"/>
            <a:ext cx="4989574" cy="253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19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">
            <a:extLst>
              <a:ext uri="{FF2B5EF4-FFF2-40B4-BE49-F238E27FC236}">
                <a16:creationId xmlns:a16="http://schemas.microsoft.com/office/drawing/2014/main" id="{63A1E24C-CD4A-D6F4-6122-25AC799BEEEE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70406D5-2ECC-C0A2-5E12-527B97507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16" y="929682"/>
            <a:ext cx="4611243" cy="196237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B2A634B-5736-FB39-BDE7-3BC4669C7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821" y="3623115"/>
            <a:ext cx="2378325" cy="306113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6239C26-612E-3862-5F49-2591255F24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4751" y="3893930"/>
            <a:ext cx="2142865" cy="228724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111080F-DD5C-E993-D362-860AE7C109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5263" y="929682"/>
            <a:ext cx="3307457" cy="1969058"/>
          </a:xfrm>
          <a:prstGeom prst="rect">
            <a:avLst/>
          </a:prstGeom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A06BEF91-4F26-15AC-DA7E-0A077B8ED3AE}"/>
              </a:ext>
            </a:extLst>
          </p:cNvPr>
          <p:cNvCxnSpPr/>
          <p:nvPr/>
        </p:nvCxnSpPr>
        <p:spPr>
          <a:xfrm>
            <a:off x="2157984" y="2990088"/>
            <a:ext cx="0" cy="438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34CD13A9-42ED-C6E2-51EC-108B8A005312}"/>
              </a:ext>
            </a:extLst>
          </p:cNvPr>
          <p:cNvCxnSpPr/>
          <p:nvPr/>
        </p:nvCxnSpPr>
        <p:spPr>
          <a:xfrm>
            <a:off x="3584448" y="5037551"/>
            <a:ext cx="31638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C219B9E-164C-927A-4EF9-78158EE82442}"/>
              </a:ext>
            </a:extLst>
          </p:cNvPr>
          <p:cNvCxnSpPr/>
          <p:nvPr/>
        </p:nvCxnSpPr>
        <p:spPr>
          <a:xfrm flipV="1">
            <a:off x="8678991" y="3081528"/>
            <a:ext cx="0" cy="5415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C3213EBD-9E64-C996-372D-C293DB36885E}"/>
              </a:ext>
            </a:extLst>
          </p:cNvPr>
          <p:cNvSpPr txBox="1"/>
          <p:nvPr/>
        </p:nvSpPr>
        <p:spPr>
          <a:xfrm>
            <a:off x="408813" y="98884"/>
            <a:ext cx="3877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计算结果展示</a:t>
            </a:r>
          </a:p>
        </p:txBody>
      </p:sp>
    </p:spTree>
    <p:extLst>
      <p:ext uri="{BB962C8B-B14F-4D97-AF65-F5344CB8AC3E}">
        <p14:creationId xmlns:p14="http://schemas.microsoft.com/office/powerpoint/2010/main" val="1331618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121</Words>
  <Application>Microsoft Office PowerPoint</Application>
  <PresentationFormat>宽屏</PresentationFormat>
  <Paragraphs>19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8" baseType="lpstr">
      <vt:lpstr>Arial</vt:lpstr>
      <vt:lpstr>Office 主题​​</vt:lpstr>
      <vt:lpstr>MM-GBSA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昱 郭</dc:creator>
  <cp:lastModifiedBy>昱 郭</cp:lastModifiedBy>
  <cp:revision>17</cp:revision>
  <dcterms:created xsi:type="dcterms:W3CDTF">2024-09-22T03:42:19Z</dcterms:created>
  <dcterms:modified xsi:type="dcterms:W3CDTF">2024-09-26T15:11:40Z</dcterms:modified>
</cp:coreProperties>
</file>