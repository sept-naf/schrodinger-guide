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56" r:id="rId4"/>
    <p:sldId id="257" r:id="rId5"/>
    <p:sldId id="258" r:id="rId6"/>
    <p:sldId id="259" r:id="rId7"/>
    <p:sldId id="261" r:id="rId8"/>
    <p:sldId id="260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BF3128-FE43-7EFD-4202-A10736D07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BA3A0B-1CC1-0F2A-AA92-0C49BD013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3C0B12-97B2-8B80-9396-0493F52EB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B668-83DE-4802-994F-14457E2F30A1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FB1E45-75CF-3903-0864-618F3601F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462DC3-ADE7-8E1F-7341-CBF5B4A1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3A25C-2912-4D11-BF30-1F571F3B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086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6CD4C-4FF0-1CA9-E586-28CE355C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6A39D-87FC-19E2-D45B-875E9CEAD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8BE647-DD02-63A0-95CF-C1026C93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B668-83DE-4802-994F-14457E2F30A1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2313E9-057E-9775-D414-B449F521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C4A684-CFDA-76F2-069C-85C20C02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3A25C-2912-4D11-BF30-1F571F3B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53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01403D-E801-0640-A5DF-09E12EFA6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D2B89D-9F3B-0FF2-3A6C-8BD2A28FC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FD7793-043E-511C-B6D1-B7161007F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B668-83DE-4802-994F-14457E2F30A1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959D19-6DF9-CE0E-EE45-E45A1AFF9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953DC2-6D49-A042-6C99-C40F9DDCE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3A25C-2912-4D11-BF30-1F571F3B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38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14495-B20D-31EE-8DD5-8F8257DB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2EAC20-3106-4CE5-ED47-76AB475EC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B38210-BD21-4F1D-42AB-B0BFFD6A9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D3776D-ADF9-8449-DF9D-BDA4B231E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B668-83DE-4802-994F-14457E2F30A1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4AAA52-7F29-5B37-B4E9-5AEB7E25D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5B4401-0E33-1937-49F4-E32C80A6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3A25C-2912-4D11-BF30-1F571F3B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675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D7453A-5BCB-38B9-0D98-0E4015D32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8E8DEB-B742-0C2E-7BEA-01ECDEB4B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2481EA-E5D5-7B7C-3FC1-DB229D44F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717C52-224B-C685-5156-561471B2A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A7B63CC-261C-6920-90DE-3E3BD66F4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4E0F6E4-421E-3614-C4BF-149AB4B78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B668-83DE-4802-994F-14457E2F30A1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9711CB-71E2-56EE-625D-B332A655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DBC706-815D-400B-8F1F-8ADC9C2E3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3A25C-2912-4D11-BF30-1F571F3B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391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3883E-60A4-75EE-86DF-C6122E350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9A3A17-CF68-72E9-1D29-BC017149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B668-83DE-4802-994F-14457E2F30A1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16231F-6AED-5CEA-1894-C3EDF3099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95824C-4786-354D-AE96-BA2B7040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3A25C-2912-4D11-BF30-1F571F3B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184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5299AE-7B9C-7BB8-8BEA-C7A3C9F6B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B668-83DE-4802-994F-14457E2F30A1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6BCD2D-0F6E-01E9-6D5C-8AE0CF878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259EF1-6D96-A6C8-44D0-EB39A1C87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3A25C-2912-4D11-BF30-1F571F3B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85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F4DD18-3BD9-77AB-C8A0-A062D1122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D9BA92-87A5-88C3-877C-C0B2BB7B1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87C164-C102-C011-B985-C11AB6420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CF6BD8-8668-BE40-C0C5-093C6674E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B668-83DE-4802-994F-14457E2F30A1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90D292-AE94-60E0-BA63-B08AC9C65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95A1E6-B799-F22B-7B31-1CBBBEAD2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3A25C-2912-4D11-BF30-1F571F3B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50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250CD-FBA8-6AC3-FFBF-5316C179B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43BC1E-3724-9BA0-6DDA-BC6C04275D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C2FD4B-4DA2-9D82-B07D-C0B7373F5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D0910B-2447-8AD9-115E-F0448796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B668-83DE-4802-994F-14457E2F30A1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165262-4398-F8C1-EC0C-5CC239DDC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3DC8D8-AA23-AA34-5134-A1DA1E4D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3A25C-2912-4D11-BF30-1F571F3B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210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04FDD-5472-D9D9-A4E8-2F09A69F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32FAD9-CB09-AC65-5518-C2805586F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5D4AF0-2401-0776-CF04-B08D3C45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B668-83DE-4802-994F-14457E2F30A1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9E298C-7AD4-FC0D-D6C5-75BEBF4F5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0876A2-1D62-9CC9-0569-71759BCA6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3A25C-2912-4D11-BF30-1F571F3B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372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AFAEAC8-A44F-1520-B6EB-4C0E94B7E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0C7594-684A-E358-7D52-5CC83D7DC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F11C4C-09D4-6B16-0442-2781DC30B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B668-83DE-4802-994F-14457E2F30A1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1145D9-C329-DFFF-672F-BF788D443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8E295A-56B7-7AAB-D669-66583E304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3A25C-2912-4D11-BF30-1F571F3B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281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BD45FB-095E-8395-1CD3-634666816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379F0F-3B18-760D-C203-30FF0CD9D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24EBA0-58E0-6487-107E-D23FF357B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1B668-83DE-4802-994F-14457E2F30A1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302994-9648-0868-E19E-BAC8A86223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825C69-75A3-880C-189C-AD7AD41DD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A25C-2912-4D11-BF30-1F571F3BD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617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toolkit.tuebingen.mpg.de/#/tools/hhpre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91BC4-7722-8329-A086-46FE8637B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4036" y="847322"/>
            <a:ext cx="7043928" cy="1016982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Homology Modelling</a:t>
            </a:r>
            <a:endParaRPr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46080E-1698-A6BC-41C4-A8DB36325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1412" y="2041612"/>
            <a:ext cx="1789176" cy="256033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Naf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Guo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E16A50-114F-A8BD-3E08-F0D763CEA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0" y="2607159"/>
            <a:ext cx="438150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21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F68648-97AE-481A-9C44-96E8E8219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124" y="100509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得到想要建模的蛋白序列后，打开</a:t>
            </a:r>
            <a:r>
              <a:rPr lang="en-US" altLang="zh-CN" sz="1800" dirty="0" err="1"/>
              <a:t>HHpred</a:t>
            </a:r>
            <a:endParaRPr lang="en-US" altLang="zh-CN" sz="1800" dirty="0"/>
          </a:p>
          <a:p>
            <a:r>
              <a:rPr lang="en-US" altLang="zh-CN" sz="1800" dirty="0">
                <a:hlinkClick r:id="rId2"/>
              </a:rPr>
              <a:t>https://toolkit.tuebingen.mpg.de/#/tools/hhpred</a:t>
            </a:r>
            <a:endParaRPr lang="en-US" altLang="zh-CN" sz="1800" dirty="0"/>
          </a:p>
          <a:p>
            <a:endParaRPr lang="zh-CN" altLang="en-US" sz="1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5589FBD-365B-4B8A-870E-7B636BFCE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22" y="1970159"/>
            <a:ext cx="6686814" cy="401121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A908599-1AA7-49E4-A8DC-3D98DEFC765B}"/>
              </a:ext>
            </a:extLst>
          </p:cNvPr>
          <p:cNvSpPr txBox="1"/>
          <p:nvPr/>
        </p:nvSpPr>
        <p:spPr>
          <a:xfrm>
            <a:off x="8480645" y="3523124"/>
            <a:ext cx="2052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把序列粘贴在这里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135D99C-E5AD-409E-BDDA-2A14E1429C0E}"/>
              </a:ext>
            </a:extLst>
          </p:cNvPr>
          <p:cNvCxnSpPr>
            <a:cxnSpLocks/>
          </p:cNvCxnSpPr>
          <p:nvPr/>
        </p:nvCxnSpPr>
        <p:spPr>
          <a:xfrm flipH="1">
            <a:off x="6001415" y="3707790"/>
            <a:ext cx="2272770" cy="695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">
            <a:extLst>
              <a:ext uri="{FF2B5EF4-FFF2-40B4-BE49-F238E27FC236}">
                <a16:creationId xmlns:a16="http://schemas.microsoft.com/office/drawing/2014/main" id="{87777179-3853-5FD4-8669-76D88E0559AA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2058AB-457C-4DE8-EEB4-CB539E0DA0D4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Find best template structures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33973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BBB3ECA-D5F7-2C73-9DFA-575AC1C1F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12" y="1231934"/>
            <a:ext cx="7500748" cy="4540436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1D1DF24A-BFEA-1FEF-81F9-2AA7C749C872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72F88B-D4E4-2C48-3E3D-A9D8E198D7BD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Download structure from PDB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26534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E0E9B76-D534-3EA2-7B6C-134C8E18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68" y="829107"/>
            <a:ext cx="6984373" cy="201296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C670065-65CC-50F5-9AA9-4E6DB39B3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68" y="3429000"/>
            <a:ext cx="7813084" cy="2891014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090554A3-0749-00AB-3DFE-9D2994B90595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0CBC2D-C230-8250-8F19-77B6ABA6496D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Fetch protein sequence from </a:t>
            </a:r>
            <a:r>
              <a:rPr lang="en-US" altLang="zh-CN" sz="2400" dirty="0" err="1"/>
              <a:t>Uniprot</a:t>
            </a:r>
            <a:endParaRPr lang="zh-CN" altLang="en-US" sz="24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25605C8-D366-12E1-C261-178D43D70ACC}"/>
              </a:ext>
            </a:extLst>
          </p:cNvPr>
          <p:cNvSpPr/>
          <p:nvPr/>
        </p:nvSpPr>
        <p:spPr>
          <a:xfrm>
            <a:off x="5833871" y="2093976"/>
            <a:ext cx="1501269" cy="356616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2F2896F-9E2A-4A18-6385-92235A14CA26}"/>
              </a:ext>
            </a:extLst>
          </p:cNvPr>
          <p:cNvCxnSpPr>
            <a:stCxn id="5" idx="2"/>
          </p:cNvCxnSpPr>
          <p:nvPr/>
        </p:nvCxnSpPr>
        <p:spPr>
          <a:xfrm flipH="1">
            <a:off x="2615184" y="2450592"/>
            <a:ext cx="3969322" cy="978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D711A4E-F3FB-E425-572D-E90F48EDE0EA}"/>
              </a:ext>
            </a:extLst>
          </p:cNvPr>
          <p:cNvSpPr/>
          <p:nvPr/>
        </p:nvSpPr>
        <p:spPr>
          <a:xfrm>
            <a:off x="265176" y="5843016"/>
            <a:ext cx="1316736" cy="18587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967EEC-4471-9A5D-AB1A-8A40B51BD573}"/>
              </a:ext>
            </a:extLst>
          </p:cNvPr>
          <p:cNvSpPr txBox="1"/>
          <p:nvPr/>
        </p:nvSpPr>
        <p:spPr>
          <a:xfrm>
            <a:off x="7433373" y="2081260"/>
            <a:ext cx="4739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</a:t>
            </a:r>
            <a:r>
              <a:rPr lang="en-US" altLang="zh-CN" dirty="0"/>
              <a:t>PDB</a:t>
            </a:r>
            <a:r>
              <a:rPr lang="zh-CN" altLang="en-US" dirty="0"/>
              <a:t>可以找到结构对应</a:t>
            </a:r>
            <a:r>
              <a:rPr lang="en-US" altLang="zh-CN" dirty="0" err="1"/>
              <a:t>uniprot</a:t>
            </a:r>
            <a:r>
              <a:rPr lang="zh-CN" altLang="en-US" dirty="0"/>
              <a:t>号的链接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407279-049A-B09A-1AB1-C010B0D304D4}"/>
              </a:ext>
            </a:extLst>
          </p:cNvPr>
          <p:cNvSpPr txBox="1"/>
          <p:nvPr/>
        </p:nvSpPr>
        <p:spPr>
          <a:xfrm>
            <a:off x="8350027" y="4496031"/>
            <a:ext cx="3573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Uniprot</a:t>
            </a:r>
            <a:r>
              <a:rPr lang="zh-CN" altLang="en-US" dirty="0"/>
              <a:t>数据库对每一个蛋白质都有一个唯一的标识，存储了关于这个蛋白质的大量信息。通过侧边栏可以迅速到达</a:t>
            </a:r>
            <a:r>
              <a:rPr lang="en-US" altLang="zh-CN" dirty="0"/>
              <a:t>sequence</a:t>
            </a:r>
            <a:r>
              <a:rPr lang="zh-CN" altLang="en-US" dirty="0"/>
              <a:t>部分。</a:t>
            </a:r>
          </a:p>
        </p:txBody>
      </p:sp>
    </p:spTree>
    <p:extLst>
      <p:ext uri="{BB962C8B-B14F-4D97-AF65-F5344CB8AC3E}">
        <p14:creationId xmlns:p14="http://schemas.microsoft.com/office/powerpoint/2010/main" val="388811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3672560-0FA1-7519-554B-53DECB0DC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12" y="1704683"/>
            <a:ext cx="2625199" cy="37358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4771C3C-BB4C-13F2-7A3A-A2E257F16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419" y="1661616"/>
            <a:ext cx="3290751" cy="4468324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EF4C20A3-CB6B-E90A-B982-1F4D747A34B9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00996B-9890-44D1-8A89-CCE5127FA113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Delete unrelated parts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3EF590-362B-48B8-66AB-4BAFBE1E31C9}"/>
              </a:ext>
            </a:extLst>
          </p:cNvPr>
          <p:cNvSpPr txBox="1"/>
          <p:nvPr/>
        </p:nvSpPr>
        <p:spPr>
          <a:xfrm>
            <a:off x="3208844" y="3249447"/>
            <a:ext cx="2058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</a:t>
            </a:r>
            <a:r>
              <a:rPr lang="en-US" altLang="zh-CN" dirty="0"/>
              <a:t>3SN6</a:t>
            </a:r>
            <a:r>
              <a:rPr lang="zh-CN" altLang="en-US" dirty="0"/>
              <a:t>，只有链</a:t>
            </a:r>
            <a:r>
              <a:rPr lang="en-US" altLang="zh-CN" dirty="0"/>
              <a:t>R</a:t>
            </a:r>
            <a:r>
              <a:rPr lang="zh-CN" altLang="en-US" dirty="0"/>
              <a:t>是</a:t>
            </a:r>
            <a:r>
              <a:rPr lang="en-US" altLang="zh-CN" dirty="0"/>
              <a:t>A2A</a:t>
            </a:r>
            <a:r>
              <a:rPr lang="zh-CN" altLang="en-US" dirty="0"/>
              <a:t>结构，其余链可以删除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51B274-C8A8-58DA-5F12-7527284CE5E4}"/>
              </a:ext>
            </a:extLst>
          </p:cNvPr>
          <p:cNvSpPr txBox="1"/>
          <p:nvPr/>
        </p:nvSpPr>
        <p:spPr>
          <a:xfrm>
            <a:off x="9899204" y="3249447"/>
            <a:ext cx="2125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</a:t>
            </a:r>
            <a:r>
              <a:rPr lang="en-US" altLang="zh-CN" dirty="0"/>
              <a:t>GPCR</a:t>
            </a:r>
            <a:r>
              <a:rPr lang="zh-CN" altLang="en-US" dirty="0"/>
              <a:t>的</a:t>
            </a:r>
            <a:r>
              <a:rPr lang="en-US" altLang="zh-CN" dirty="0"/>
              <a:t>X-ray</a:t>
            </a:r>
            <a:r>
              <a:rPr lang="zh-CN" altLang="en-US" dirty="0"/>
              <a:t>结构，</a:t>
            </a:r>
            <a:r>
              <a:rPr lang="en-US" altLang="zh-CN" dirty="0"/>
              <a:t>ICL3</a:t>
            </a:r>
            <a:r>
              <a:rPr lang="zh-CN" altLang="en-US" dirty="0"/>
              <a:t>常常被一段溶源蛋白替换，这部分可以删除</a:t>
            </a:r>
          </a:p>
        </p:txBody>
      </p:sp>
    </p:spTree>
    <p:extLst>
      <p:ext uri="{BB962C8B-B14F-4D97-AF65-F5344CB8AC3E}">
        <p14:creationId xmlns:p14="http://schemas.microsoft.com/office/powerpoint/2010/main" val="15847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02F713-3111-B1CF-BD06-34EBB620C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71" y="2524923"/>
            <a:ext cx="4156109" cy="13047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150BE5C-92A8-D80A-9BC9-9F8F191EE9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85"/>
          <a:stretch/>
        </p:blipFill>
        <p:spPr>
          <a:xfrm>
            <a:off x="4753189" y="1291939"/>
            <a:ext cx="7297240" cy="4274122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89BDE0F3-31E2-567B-A84B-696750C62CB8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51DDEA-9464-5747-EEF9-9153766400A1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Open homology modelling panel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07884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57DE716-A1DB-9A98-18BF-682661985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05" y="1210481"/>
            <a:ext cx="3576175" cy="41857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EF8AB8C-AFD9-943E-6BD7-7E3F1D15C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464" y="1210481"/>
            <a:ext cx="4721352" cy="4437037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4CF46E06-EB18-0C02-F492-321DC107A67A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45B3B7-3BE4-002D-EAC3-DAECDBF70A0D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Import target protein sequence</a:t>
            </a:r>
            <a:endParaRPr lang="zh-CN" altLang="en-US" sz="2400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4D4297E-0DE3-0CE0-FEE5-9A780B81FB6C}"/>
              </a:ext>
            </a:extLst>
          </p:cNvPr>
          <p:cNvSpPr/>
          <p:nvPr/>
        </p:nvSpPr>
        <p:spPr>
          <a:xfrm>
            <a:off x="512064" y="3886200"/>
            <a:ext cx="3931920" cy="330336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2162453-1EB1-2BF9-F0B0-1B6CCA116CA8}"/>
              </a:ext>
            </a:extLst>
          </p:cNvPr>
          <p:cNvCxnSpPr/>
          <p:nvPr/>
        </p:nvCxnSpPr>
        <p:spPr>
          <a:xfrm>
            <a:off x="4681728" y="4069080"/>
            <a:ext cx="12618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3022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7B72A29-7CF0-773C-7E0F-ED927104A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26" y="1177167"/>
            <a:ext cx="8356278" cy="4503665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C2C2AB0D-9880-51F2-68FC-3FC715D570EC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9F8C25-5D12-F543-DF64-71A5246F2480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Load template structures from workspace</a:t>
            </a:r>
            <a:endParaRPr lang="zh-CN" altLang="en-US" sz="24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68C3BD2-6454-1751-588D-34A2742B48CC}"/>
              </a:ext>
            </a:extLst>
          </p:cNvPr>
          <p:cNvSpPr/>
          <p:nvPr/>
        </p:nvSpPr>
        <p:spPr>
          <a:xfrm>
            <a:off x="795528" y="4114800"/>
            <a:ext cx="5102352" cy="237744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506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34473C7-FE57-B9E8-A61F-EA80BBCCF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12" y="1378051"/>
            <a:ext cx="8845976" cy="4492972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5CB2DE98-FBCD-DF44-54B9-141009A73BE7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90F6AB-5F98-AB26-AE7B-C940016FD85F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Align sequences and run modelling</a:t>
            </a:r>
            <a:endParaRPr lang="zh-CN" altLang="en-US" sz="24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DCCFA85-895E-7C09-13E3-CF3DF020FA03}"/>
              </a:ext>
            </a:extLst>
          </p:cNvPr>
          <p:cNvSpPr/>
          <p:nvPr/>
        </p:nvSpPr>
        <p:spPr>
          <a:xfrm>
            <a:off x="8366760" y="3529584"/>
            <a:ext cx="888028" cy="283464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ABC224-1E34-84C5-4326-8E730CB88F98}"/>
              </a:ext>
            </a:extLst>
          </p:cNvPr>
          <p:cNvSpPr txBox="1"/>
          <p:nvPr/>
        </p:nvSpPr>
        <p:spPr>
          <a:xfrm>
            <a:off x="9409176" y="3529584"/>
            <a:ext cx="1965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序列与结构对齐</a:t>
            </a:r>
          </a:p>
        </p:txBody>
      </p:sp>
    </p:spTree>
    <p:extLst>
      <p:ext uri="{BB962C8B-B14F-4D97-AF65-F5344CB8AC3E}">
        <p14:creationId xmlns:p14="http://schemas.microsoft.com/office/powerpoint/2010/main" val="1761303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D1B188A-4FBF-30CF-69F2-8E00BA876E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28"/>
          <a:stretch/>
        </p:blipFill>
        <p:spPr>
          <a:xfrm>
            <a:off x="509016" y="1385696"/>
            <a:ext cx="8360664" cy="4879097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17707217-E6E9-06CC-EE0F-7CBACD837C57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A4306B-DC39-EDBC-037F-627062A4F6E4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Multiple templates could be used 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4219B6-1AB0-5002-0F07-F22B18B78ABC}"/>
              </a:ext>
            </a:extLst>
          </p:cNvPr>
          <p:cNvSpPr txBox="1"/>
          <p:nvPr/>
        </p:nvSpPr>
        <p:spPr>
          <a:xfrm>
            <a:off x="8930640" y="2505456"/>
            <a:ext cx="2752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使用多模板进行结构建模</a:t>
            </a:r>
          </a:p>
        </p:txBody>
      </p:sp>
    </p:spTree>
    <p:extLst>
      <p:ext uri="{BB962C8B-B14F-4D97-AF65-F5344CB8AC3E}">
        <p14:creationId xmlns:p14="http://schemas.microsoft.com/office/powerpoint/2010/main" val="524530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0A909C-CF34-F765-DAA5-75DD5874D3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38"/>
          <a:stretch/>
        </p:blipFill>
        <p:spPr>
          <a:xfrm>
            <a:off x="212490" y="1323213"/>
            <a:ext cx="8062830" cy="4694691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9C6395CB-8995-DF0B-88B5-48623055AA50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5D4625-62CF-EAEC-21B5-1349DE965F54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Pick regions from different templates</a:t>
            </a:r>
            <a:endParaRPr lang="zh-CN" altLang="en-US" sz="24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E00F01C-9981-5255-6264-25418D1878CA}"/>
              </a:ext>
            </a:extLst>
          </p:cNvPr>
          <p:cNvSpPr/>
          <p:nvPr/>
        </p:nvSpPr>
        <p:spPr>
          <a:xfrm>
            <a:off x="5852160" y="3346704"/>
            <a:ext cx="2322576" cy="38404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50DD22-5364-BC00-8D5D-A841716F49C3}"/>
              </a:ext>
            </a:extLst>
          </p:cNvPr>
          <p:cNvSpPr txBox="1"/>
          <p:nvPr/>
        </p:nvSpPr>
        <p:spPr>
          <a:xfrm>
            <a:off x="8418576" y="3361420"/>
            <a:ext cx="2752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对齐序列，对齐模板结构</a:t>
            </a:r>
          </a:p>
        </p:txBody>
      </p:sp>
    </p:spTree>
    <p:extLst>
      <p:ext uri="{BB962C8B-B14F-4D97-AF65-F5344CB8AC3E}">
        <p14:creationId xmlns:p14="http://schemas.microsoft.com/office/powerpoint/2010/main" val="1340560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60EBA3C-61B5-90EE-5544-0AE7F1159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12" y="1104347"/>
            <a:ext cx="8122920" cy="5076825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2F34DC3F-376A-D324-BF34-E56BE4096CEF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09DD6D-0D83-D7DA-9660-67EAD79D6E77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Pick regions from different templates</a:t>
            </a:r>
            <a:endParaRPr lang="zh-CN" altLang="en-US" sz="24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EC3184B-3DED-7649-9E6C-C6B7FFCDD391}"/>
              </a:ext>
            </a:extLst>
          </p:cNvPr>
          <p:cNvSpPr/>
          <p:nvPr/>
        </p:nvSpPr>
        <p:spPr>
          <a:xfrm>
            <a:off x="6096000" y="3429000"/>
            <a:ext cx="2435732" cy="466344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541AF6-789A-66A6-55B2-54D26B3D7CC6}"/>
              </a:ext>
            </a:extLst>
          </p:cNvPr>
          <p:cNvSpPr txBox="1"/>
          <p:nvPr/>
        </p:nvSpPr>
        <p:spPr>
          <a:xfrm>
            <a:off x="8796528" y="3200507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对想要建模的目标蛋白，选择不同序列区域的模板来源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BD9E075-CE29-938D-ADF6-603FC7748834}"/>
              </a:ext>
            </a:extLst>
          </p:cNvPr>
          <p:cNvSpPr/>
          <p:nvPr/>
        </p:nvSpPr>
        <p:spPr>
          <a:xfrm>
            <a:off x="512064" y="2121408"/>
            <a:ext cx="5029200" cy="21031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2EBAD85-2273-AFB3-E661-E63C54AF28F2}"/>
              </a:ext>
            </a:extLst>
          </p:cNvPr>
          <p:cNvSpPr/>
          <p:nvPr/>
        </p:nvSpPr>
        <p:spPr>
          <a:xfrm>
            <a:off x="512064" y="5218176"/>
            <a:ext cx="5029200" cy="21031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7918882-1344-9E39-BBF3-A4BDB0521617}"/>
              </a:ext>
            </a:extLst>
          </p:cNvPr>
          <p:cNvCxnSpPr>
            <a:cxnSpLocks/>
          </p:cNvCxnSpPr>
          <p:nvPr/>
        </p:nvCxnSpPr>
        <p:spPr>
          <a:xfrm>
            <a:off x="5559552" y="2235708"/>
            <a:ext cx="3383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4177D7E0-8B05-76D6-E400-648EB5463021}"/>
              </a:ext>
            </a:extLst>
          </p:cNvPr>
          <p:cNvSpPr txBox="1"/>
          <p:nvPr/>
        </p:nvSpPr>
        <p:spPr>
          <a:xfrm>
            <a:off x="8998266" y="1764899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黄色背景覆盖，意味着这部分序列使用</a:t>
            </a:r>
            <a:r>
              <a:rPr lang="en-US" altLang="zh-CN" dirty="0"/>
              <a:t>3SN6</a:t>
            </a:r>
            <a:r>
              <a:rPr lang="zh-CN" altLang="en-US" dirty="0"/>
              <a:t>作为模板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7C95BB-DFBA-31DC-A40D-64BBAEC039F5}"/>
              </a:ext>
            </a:extLst>
          </p:cNvPr>
          <p:cNvCxnSpPr>
            <a:cxnSpLocks/>
          </p:cNvCxnSpPr>
          <p:nvPr/>
        </p:nvCxnSpPr>
        <p:spPr>
          <a:xfrm>
            <a:off x="5541264" y="5332476"/>
            <a:ext cx="34015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0FDCA0A-F2D3-D057-0AEB-FFFAC5C27728}"/>
              </a:ext>
            </a:extLst>
          </p:cNvPr>
          <p:cNvSpPr txBox="1"/>
          <p:nvPr/>
        </p:nvSpPr>
        <p:spPr>
          <a:xfrm>
            <a:off x="8998266" y="4861667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黄色背景覆盖，意味着这部分序列使用</a:t>
            </a:r>
            <a:r>
              <a:rPr lang="en-US" altLang="zh-CN" dirty="0"/>
              <a:t>AF</a:t>
            </a:r>
            <a:r>
              <a:rPr lang="zh-CN" altLang="en-US" dirty="0"/>
              <a:t>作为模板</a:t>
            </a:r>
          </a:p>
        </p:txBody>
      </p:sp>
    </p:spTree>
    <p:extLst>
      <p:ext uri="{BB962C8B-B14F-4D97-AF65-F5344CB8AC3E}">
        <p14:creationId xmlns:p14="http://schemas.microsoft.com/office/powerpoint/2010/main" val="1277841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53E7185-60D5-0E4A-EFB2-DA86707E75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09"/>
          <a:stretch/>
        </p:blipFill>
        <p:spPr>
          <a:xfrm>
            <a:off x="591312" y="976502"/>
            <a:ext cx="8708136" cy="5077403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22A332C0-3C0A-8A25-A992-B1AA092E41D1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F9F65A-D152-DD7D-BB73-D7C3D391E4E0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Select ligand and run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75649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34726BB-A344-FCC9-B704-2840BCAE5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353" y="1862892"/>
            <a:ext cx="2998351" cy="4202192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475F44AA-5ACE-7A5E-BA09-473A5A15892B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666B2D-B646-B843-73C0-88ECC191BD55}"/>
              </a:ext>
            </a:extLst>
          </p:cNvPr>
          <p:cNvSpPr txBox="1"/>
          <p:nvPr/>
        </p:nvSpPr>
        <p:spPr>
          <a:xfrm>
            <a:off x="408812" y="98884"/>
            <a:ext cx="9530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Color on the output structure implies confidence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381AE5-DD91-602D-B52D-10271E903B8A}"/>
              </a:ext>
            </a:extLst>
          </p:cNvPr>
          <p:cNvSpPr txBox="1"/>
          <p:nvPr/>
        </p:nvSpPr>
        <p:spPr>
          <a:xfrm>
            <a:off x="5174170" y="2404979"/>
            <a:ext cx="57268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对建模得到的最终结构：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深蓝色代表这部分结构完全来自模板，比较可信；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浅蓝色代表这部分结构来自模板，但是残基种类与模板结构不同；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红色代表这部分结构没有模板，是使用算法重建的，可信度较差，特别是现在已经可以用</a:t>
            </a:r>
            <a:r>
              <a:rPr lang="en-US" altLang="zh-CN" dirty="0"/>
              <a:t>AlphaFold</a:t>
            </a:r>
            <a:r>
              <a:rPr lang="zh-CN" altLang="en-US" dirty="0"/>
              <a:t>对这种无模板部分建模。</a:t>
            </a:r>
          </a:p>
        </p:txBody>
      </p:sp>
    </p:spTree>
    <p:extLst>
      <p:ext uri="{BB962C8B-B14F-4D97-AF65-F5344CB8AC3E}">
        <p14:creationId xmlns:p14="http://schemas.microsoft.com/office/powerpoint/2010/main" val="1581930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292</Words>
  <Application>Microsoft Office PowerPoint</Application>
  <PresentationFormat>宽屏</PresentationFormat>
  <Paragraphs>35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6" baseType="lpstr">
      <vt:lpstr>Arial</vt:lpstr>
      <vt:lpstr>Office 主题​​</vt:lpstr>
      <vt:lpstr>Homology Modelling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昱 郭</dc:creator>
  <cp:lastModifiedBy>昱 郭</cp:lastModifiedBy>
  <cp:revision>37</cp:revision>
  <dcterms:created xsi:type="dcterms:W3CDTF">2024-09-26T02:34:26Z</dcterms:created>
  <dcterms:modified xsi:type="dcterms:W3CDTF">2024-09-26T14:50:54Z</dcterms:modified>
</cp:coreProperties>
</file>