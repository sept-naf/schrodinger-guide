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61" r:id="rId5"/>
    <p:sldId id="262" r:id="rId6"/>
    <p:sldId id="263" r:id="rId7"/>
    <p:sldId id="264" r:id="rId8"/>
    <p:sldId id="265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0321C8-B0D6-2ADC-94C7-E4AFA0B317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00BDD3F-95FD-F2D2-0552-50E593F76D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F2ECF37-8B2F-F650-B8FE-4DF6A71A7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A58FA-9D47-45CB-A365-881F20F370B3}" type="datetimeFigureOut">
              <a:rPr lang="zh-CN" altLang="en-US" smtClean="0"/>
              <a:t>2024/9/26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B1117AC-93C1-9EF1-5712-F8692C6B2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018A8EB-AEA2-006C-38A0-116D80F52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00310-A186-48CC-87D5-327223E475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05364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E51ED3-629D-0C23-DC3B-D858DE2B8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9665591-049F-D1FE-E3E9-5D3B871287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602E41C-27FA-13CB-5E93-785ACB91C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A58FA-9D47-45CB-A365-881F20F370B3}" type="datetimeFigureOut">
              <a:rPr lang="zh-CN" altLang="en-US" smtClean="0"/>
              <a:t>2024/9/26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915B468-20B5-43CB-9967-AD01164E2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AEB92E0-A676-EC21-A35F-EF383EB5D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00310-A186-48CC-87D5-327223E475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52138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CB9286-00E7-5A0E-2C2C-3CC1319CF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2E38F7B-E4D0-CFC2-183F-888D5C2B2D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EC866D1-BA65-04C2-FB05-C90B300E4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A58FA-9D47-45CB-A365-881F20F370B3}" type="datetimeFigureOut">
              <a:rPr lang="zh-CN" altLang="en-US" smtClean="0"/>
              <a:t>2024/9/26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A05B2D2-7791-725C-A532-40BBBEFA4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98E3C0D-5E06-83C3-0A34-278A4E559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00310-A186-48CC-87D5-327223E475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04682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28AE6B-3204-6521-BDCC-5FD814F9F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D654FEE-05C5-AAF3-487C-A7862402C8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D84BAEC-5555-D079-3338-66A65BB8F6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B5EC08B-FA8F-C6F4-0203-B8DFEF032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A58FA-9D47-45CB-A365-881F20F370B3}" type="datetimeFigureOut">
              <a:rPr lang="zh-CN" altLang="en-US" smtClean="0"/>
              <a:t>2024/9/26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B35F762-C9AB-003F-E4FF-78CD587F4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C9921C7-D599-BB2A-C68B-01BDD6BA9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00310-A186-48CC-87D5-327223E475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60300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172693-D417-80AD-1D7C-F576636E9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96303C2-1AC4-5224-C959-CE8029B012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B0C0168-FB20-586F-B462-777E36DE6D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E545DB8-ABFA-0E16-F2FC-BD90DD7750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3C6D874-FC3D-CA88-53DA-B9360D7DA4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B23207F-C815-73BF-E054-1969A75ED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A58FA-9D47-45CB-A365-881F20F370B3}" type="datetimeFigureOut">
              <a:rPr lang="zh-CN" altLang="en-US" smtClean="0"/>
              <a:t>2024/9/26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0132161-AC54-0655-F088-C2EB44796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98F7E77-FE72-6312-568D-FED858BFC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00310-A186-48CC-87D5-327223E475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958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556C66-1A94-4D3A-5A88-FDE5DA094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A347461-0300-0DEF-A5D6-2303295AF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A58FA-9D47-45CB-A365-881F20F370B3}" type="datetimeFigureOut">
              <a:rPr lang="zh-CN" altLang="en-US" smtClean="0"/>
              <a:t>2024/9/26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5EC62A5-7C22-D1F3-B60F-5ACA6997E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9852400-DD20-3D0A-781C-2B9FD5701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00310-A186-48CC-87D5-327223E475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6428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29E11C0-66A3-EAD1-4CA3-FE9436EAF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A58FA-9D47-45CB-A365-881F20F370B3}" type="datetimeFigureOut">
              <a:rPr lang="zh-CN" altLang="en-US" smtClean="0"/>
              <a:t>2024/9/26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159B1EC-893D-77A0-0BAA-AD61FAA64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BC01295-D020-7C75-F915-A53AB7B2B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00310-A186-48CC-87D5-327223E475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19424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281C78-7F2D-FF44-3A64-ED0F8A8D1D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E2465A-9A6B-F635-FB81-724500220F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DD4CFFD-521C-F478-FB61-5C485D7F71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2B69509-C7CC-FD25-7CC2-8BCFB2B8B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A58FA-9D47-45CB-A365-881F20F370B3}" type="datetimeFigureOut">
              <a:rPr lang="zh-CN" altLang="en-US" smtClean="0"/>
              <a:t>2024/9/26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506DEE6-48EE-7633-2366-B4BECF794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E870851-FF8C-19C6-2A32-58CAC4E15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00310-A186-48CC-87D5-327223E475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44482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E10604-BDA2-8679-2D87-482903E58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FA99034-A8C7-2B58-9DD9-DDD216606E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18FBCD0-ACD5-3EE9-CDBD-AF841E3039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FDB997A-3352-F9FE-3673-D3FE6BA2A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A58FA-9D47-45CB-A365-881F20F370B3}" type="datetimeFigureOut">
              <a:rPr lang="zh-CN" altLang="en-US" smtClean="0"/>
              <a:t>2024/9/26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E3C731A-E8ED-E8B0-F6DC-660240943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E7AF8BB-32AB-8251-EB78-8B1F7809C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00310-A186-48CC-87D5-327223E475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56300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39B0A7-3B96-7F3D-221E-A56474258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904FA42-647E-77F4-6C19-99A4B3332E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F529524-B9BD-FE03-7957-860B3B347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A58FA-9D47-45CB-A365-881F20F370B3}" type="datetimeFigureOut">
              <a:rPr lang="zh-CN" altLang="en-US" smtClean="0"/>
              <a:t>2024/9/26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17718B2-AA0F-64E1-8613-EB28B8B7C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237CA48-FB13-BCDF-6A28-B58E43B91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00310-A186-48CC-87D5-327223E475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91272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AA8774E-1D29-EA3D-74DD-5A0F1E7965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2283997-4C4B-2AE2-9000-65B4923F36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12C04E-E109-FBA1-0729-181E08BC4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A58FA-9D47-45CB-A365-881F20F370B3}" type="datetimeFigureOut">
              <a:rPr lang="zh-CN" altLang="en-US" smtClean="0"/>
              <a:t>2024/9/26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0DCAA15-C24D-33D5-513D-D4E6B6D3D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7760B83-147A-E64F-88CF-104588A60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00310-A186-48CC-87D5-327223E475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62214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58AFF8A-259D-5B06-038B-1E76B9738B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534B7F5-8454-5065-9FDD-E13A08B829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89E17BB-F39B-F8DF-AEF6-9B6FA11EB1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6A58FA-9D47-45CB-A365-881F20F370B3}" type="datetimeFigureOut">
              <a:rPr lang="zh-CN" altLang="en-US" smtClean="0"/>
              <a:t>2024/9/26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DC5766-66F0-41F4-F377-FA3AE5BE71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727E623-C148-69A5-2F66-E7F4BC63C0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200310-A186-48CC-87D5-327223E475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13667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091BC4-7722-8329-A086-46FE8637BE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74036" y="847322"/>
            <a:ext cx="7043928" cy="1016982"/>
          </a:xfrm>
        </p:spPr>
        <p:txBody>
          <a:bodyPr>
            <a:normAutofit/>
          </a:bodyPr>
          <a:lstStyle/>
          <a:p>
            <a:r>
              <a:rPr lang="en-US" altLang="zh-CN" sz="4000" dirty="0"/>
              <a:t>Virtual Screening Workflow</a:t>
            </a:r>
            <a:endParaRPr lang="zh-CN" altLang="en-US" sz="4000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246080E-1698-A6BC-41C4-A8DB363254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01412" y="2041612"/>
            <a:ext cx="1789176" cy="256033"/>
          </a:xfrm>
        </p:spPr>
        <p:txBody>
          <a:bodyPr>
            <a:normAutofit fontScale="92500" lnSpcReduction="20000"/>
          </a:bodyPr>
          <a:lstStyle/>
          <a:p>
            <a:r>
              <a:rPr lang="en-US" altLang="zh-CN" sz="1600" dirty="0" err="1"/>
              <a:t>Naf</a:t>
            </a:r>
            <a:r>
              <a:rPr lang="en-US" altLang="zh-CN" sz="1600" dirty="0"/>
              <a:t> Guo</a:t>
            </a:r>
            <a:endParaRPr lang="zh-CN" altLang="en-US" sz="1600" dirty="0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F6782D03-973B-A39E-A714-2671809B5974}"/>
              </a:ext>
            </a:extLst>
          </p:cNvPr>
          <p:cNvSpPr/>
          <p:nvPr/>
        </p:nvSpPr>
        <p:spPr>
          <a:xfrm>
            <a:off x="274320" y="2395728"/>
            <a:ext cx="1362456" cy="88696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Protein Preparation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97D4AEB6-FA1B-D99F-99A2-135847F0FFCE}"/>
              </a:ext>
            </a:extLst>
          </p:cNvPr>
          <p:cNvSpPr/>
          <p:nvPr/>
        </p:nvSpPr>
        <p:spPr>
          <a:xfrm>
            <a:off x="2311911" y="2395728"/>
            <a:ext cx="1362456" cy="88696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Receptor Grid Generation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3C45C3FE-818E-89EA-1A8A-D86AF299FCF1}"/>
              </a:ext>
            </a:extLst>
          </p:cNvPr>
          <p:cNvSpPr/>
          <p:nvPr/>
        </p:nvSpPr>
        <p:spPr>
          <a:xfrm>
            <a:off x="2311911" y="3920800"/>
            <a:ext cx="1362456" cy="88696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Ligand Preparation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CFF605ED-654B-C97E-16B8-C633CB48FB0E}"/>
              </a:ext>
            </a:extLst>
          </p:cNvPr>
          <p:cNvSpPr/>
          <p:nvPr/>
        </p:nvSpPr>
        <p:spPr>
          <a:xfrm>
            <a:off x="274320" y="3920800"/>
            <a:ext cx="1362456" cy="88696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Ligand Filtering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1E8720E0-7D7B-EB0A-5672-F7C2F0F046E3}"/>
              </a:ext>
            </a:extLst>
          </p:cNvPr>
          <p:cNvSpPr/>
          <p:nvPr/>
        </p:nvSpPr>
        <p:spPr>
          <a:xfrm>
            <a:off x="4238245" y="3193424"/>
            <a:ext cx="1362456" cy="88696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HTVS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C1ADFAD4-E4B6-80A9-BE0B-35D7E2241670}"/>
              </a:ext>
            </a:extLst>
          </p:cNvPr>
          <p:cNvSpPr/>
          <p:nvPr/>
        </p:nvSpPr>
        <p:spPr>
          <a:xfrm>
            <a:off x="6275836" y="3193424"/>
            <a:ext cx="1362456" cy="886968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SP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DD69A221-7119-AF2C-3B30-AB5C34EB73E7}"/>
              </a:ext>
            </a:extLst>
          </p:cNvPr>
          <p:cNvSpPr/>
          <p:nvPr/>
        </p:nvSpPr>
        <p:spPr>
          <a:xfrm>
            <a:off x="8255508" y="3193424"/>
            <a:ext cx="1362456" cy="88696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XP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A432A7B6-4D44-5A64-4D71-3BE7610F4621}"/>
              </a:ext>
            </a:extLst>
          </p:cNvPr>
          <p:cNvSpPr/>
          <p:nvPr/>
        </p:nvSpPr>
        <p:spPr>
          <a:xfrm>
            <a:off x="10235180" y="3193424"/>
            <a:ext cx="1362456" cy="886968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GBSA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3C4119A6-9642-23B3-022D-DC50939B44F7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1636776" y="2839212"/>
            <a:ext cx="67513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D9813083-88D1-0271-E8E6-E7F742F86A4F}"/>
              </a:ext>
            </a:extLst>
          </p:cNvPr>
          <p:cNvCxnSpPr>
            <a:stCxn id="8" idx="3"/>
            <a:endCxn id="7" idx="1"/>
          </p:cNvCxnSpPr>
          <p:nvPr/>
        </p:nvCxnSpPr>
        <p:spPr>
          <a:xfrm>
            <a:off x="1636776" y="4364284"/>
            <a:ext cx="67513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连接符: 肘形 17">
            <a:extLst>
              <a:ext uri="{FF2B5EF4-FFF2-40B4-BE49-F238E27FC236}">
                <a16:creationId xmlns:a16="http://schemas.microsoft.com/office/drawing/2014/main" id="{49ACB7F4-0D04-16C1-38F6-D7AAF4E81C67}"/>
              </a:ext>
            </a:extLst>
          </p:cNvPr>
          <p:cNvCxnSpPr>
            <a:stCxn id="6" idx="3"/>
            <a:endCxn id="9" idx="1"/>
          </p:cNvCxnSpPr>
          <p:nvPr/>
        </p:nvCxnSpPr>
        <p:spPr>
          <a:xfrm>
            <a:off x="3674367" y="2839212"/>
            <a:ext cx="563878" cy="79769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连接符: 肘形 19">
            <a:extLst>
              <a:ext uri="{FF2B5EF4-FFF2-40B4-BE49-F238E27FC236}">
                <a16:creationId xmlns:a16="http://schemas.microsoft.com/office/drawing/2014/main" id="{0183CBD3-5996-567A-018E-7E1E4268BBD3}"/>
              </a:ext>
            </a:extLst>
          </p:cNvPr>
          <p:cNvCxnSpPr>
            <a:stCxn id="7" idx="3"/>
            <a:endCxn id="9" idx="1"/>
          </p:cNvCxnSpPr>
          <p:nvPr/>
        </p:nvCxnSpPr>
        <p:spPr>
          <a:xfrm flipV="1">
            <a:off x="3674367" y="3636908"/>
            <a:ext cx="563878" cy="72737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804099D9-2236-ED12-DFB4-2ACC9C30F25F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5600701" y="3636908"/>
            <a:ext cx="67513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02D4D269-80F5-CF42-D3EB-505CFDD64571}"/>
              </a:ext>
            </a:extLst>
          </p:cNvPr>
          <p:cNvCxnSpPr>
            <a:stCxn id="10" idx="3"/>
            <a:endCxn id="11" idx="1"/>
          </p:cNvCxnSpPr>
          <p:nvPr/>
        </p:nvCxnSpPr>
        <p:spPr>
          <a:xfrm>
            <a:off x="7638292" y="3636908"/>
            <a:ext cx="61721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58647D84-1E51-53DE-5530-322FEFEC6217}"/>
              </a:ext>
            </a:extLst>
          </p:cNvPr>
          <p:cNvCxnSpPr>
            <a:stCxn id="11" idx="3"/>
            <a:endCxn id="12" idx="1"/>
          </p:cNvCxnSpPr>
          <p:nvPr/>
        </p:nvCxnSpPr>
        <p:spPr>
          <a:xfrm>
            <a:off x="9617964" y="3636908"/>
            <a:ext cx="61721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B95AF82B-C0A5-7952-70B0-BB4850410741}"/>
              </a:ext>
            </a:extLst>
          </p:cNvPr>
          <p:cNvSpPr/>
          <p:nvPr/>
        </p:nvSpPr>
        <p:spPr>
          <a:xfrm>
            <a:off x="6275836" y="5137522"/>
            <a:ext cx="1362456" cy="88696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Final Selection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cxnSp>
        <p:nvCxnSpPr>
          <p:cNvPr id="29" name="连接符: 肘形 28">
            <a:extLst>
              <a:ext uri="{FF2B5EF4-FFF2-40B4-BE49-F238E27FC236}">
                <a16:creationId xmlns:a16="http://schemas.microsoft.com/office/drawing/2014/main" id="{2E0A0FCD-1859-A2E1-1140-7A14F1BD37EE}"/>
              </a:ext>
            </a:extLst>
          </p:cNvPr>
          <p:cNvCxnSpPr>
            <a:stCxn id="12" idx="2"/>
            <a:endCxn id="27" idx="3"/>
          </p:cNvCxnSpPr>
          <p:nvPr/>
        </p:nvCxnSpPr>
        <p:spPr>
          <a:xfrm rot="5400000">
            <a:off x="8527043" y="3191641"/>
            <a:ext cx="1500614" cy="327811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8C1B9C24-88FF-B4F6-F9E4-38FC1FEE77C9}"/>
              </a:ext>
            </a:extLst>
          </p:cNvPr>
          <p:cNvSpPr txBox="1"/>
          <p:nvPr/>
        </p:nvSpPr>
        <p:spPr>
          <a:xfrm>
            <a:off x="8068816" y="4558795"/>
            <a:ext cx="257860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200" dirty="0"/>
              <a:t>Strain energy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200" dirty="0"/>
              <a:t>Pains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200" dirty="0"/>
              <a:t>Interaction fingerprint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200" dirty="0"/>
              <a:t>Manually picking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200" dirty="0"/>
              <a:t>…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6185212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">
            <a:extLst>
              <a:ext uri="{FF2B5EF4-FFF2-40B4-BE49-F238E27FC236}">
                <a16:creationId xmlns:a16="http://schemas.microsoft.com/office/drawing/2014/main" id="{63A1E24C-CD4A-D6F4-6122-25AC799BEEEE}"/>
              </a:ext>
            </a:extLst>
          </p:cNvPr>
          <p:cNvSpPr/>
          <p:nvPr/>
        </p:nvSpPr>
        <p:spPr>
          <a:xfrm flipV="1">
            <a:off x="408813" y="676828"/>
            <a:ext cx="11413996" cy="36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noFill/>
            <a:miter lim="400000"/>
          </a:ln>
        </p:spPr>
        <p:txBody>
          <a:bodyPr lIns="45719" rIns="45719" anchor="ctr"/>
          <a:lstStyle/>
          <a:p>
            <a:pPr defTabSz="412750">
              <a:defRPr sz="16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3859D31-9B69-084F-2E50-96C43F89D415}"/>
              </a:ext>
            </a:extLst>
          </p:cNvPr>
          <p:cNvSpPr txBox="1"/>
          <p:nvPr/>
        </p:nvSpPr>
        <p:spPr>
          <a:xfrm>
            <a:off x="408812" y="98884"/>
            <a:ext cx="62175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Virtual Screening Workflow</a:t>
            </a:r>
            <a:r>
              <a:rPr lang="zh-CN" altLang="en-US" sz="2400" dirty="0"/>
              <a:t>任务栏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A6320EE-63A5-D8A4-C21C-2B374CBE71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40" y="1911981"/>
            <a:ext cx="5422138" cy="321132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38CAF07F-47FE-E298-9C50-3356473406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349" y="1661904"/>
            <a:ext cx="5107460" cy="3977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20570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">
            <a:extLst>
              <a:ext uri="{FF2B5EF4-FFF2-40B4-BE49-F238E27FC236}">
                <a16:creationId xmlns:a16="http://schemas.microsoft.com/office/drawing/2014/main" id="{63A1E24C-CD4A-D6F4-6122-25AC799BEEEE}"/>
              </a:ext>
            </a:extLst>
          </p:cNvPr>
          <p:cNvSpPr/>
          <p:nvPr/>
        </p:nvSpPr>
        <p:spPr>
          <a:xfrm flipV="1">
            <a:off x="408813" y="676828"/>
            <a:ext cx="11413996" cy="36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noFill/>
            <a:miter lim="400000"/>
          </a:ln>
        </p:spPr>
        <p:txBody>
          <a:bodyPr lIns="45719" rIns="45719" anchor="ctr"/>
          <a:lstStyle/>
          <a:p>
            <a:pPr defTabSz="412750">
              <a:defRPr sz="16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831CB2B-7C50-7025-3622-1B44F681B493}"/>
              </a:ext>
            </a:extLst>
          </p:cNvPr>
          <p:cNvSpPr txBox="1"/>
          <p:nvPr/>
        </p:nvSpPr>
        <p:spPr>
          <a:xfrm>
            <a:off x="408813" y="98884"/>
            <a:ext cx="3877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选择配体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4D9FE0C-5ACD-4BE9-1BBF-3BA2A401AB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2505" y="1528526"/>
            <a:ext cx="5270375" cy="4111226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B526E4ED-AB65-D7C6-6BAA-F4FEB0AC6DA9}"/>
              </a:ext>
            </a:extLst>
          </p:cNvPr>
          <p:cNvSpPr txBox="1"/>
          <p:nvPr/>
        </p:nvSpPr>
        <p:spPr>
          <a:xfrm>
            <a:off x="210315" y="1902877"/>
            <a:ext cx="5748910" cy="33625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接受</a:t>
            </a:r>
            <a:r>
              <a:rPr lang="en-US" altLang="zh-CN" dirty="0" err="1"/>
              <a:t>sdf</a:t>
            </a:r>
            <a:r>
              <a:rPr lang="zh-CN" altLang="en-US" dirty="0"/>
              <a:t>格式，</a:t>
            </a:r>
            <a:r>
              <a:rPr lang="en-US" altLang="zh-CN" dirty="0"/>
              <a:t>smiles</a:t>
            </a:r>
            <a:r>
              <a:rPr lang="zh-CN" altLang="en-US" dirty="0"/>
              <a:t>格式，</a:t>
            </a:r>
            <a:r>
              <a:rPr lang="en-US" altLang="zh-CN" dirty="0" err="1"/>
              <a:t>maegz</a:t>
            </a:r>
            <a:r>
              <a:rPr lang="zh-CN" altLang="en-US" dirty="0"/>
              <a:t>及</a:t>
            </a:r>
            <a:r>
              <a:rPr lang="en-US" altLang="zh-CN" dirty="0" err="1"/>
              <a:t>mae</a:t>
            </a:r>
            <a:r>
              <a:rPr lang="zh-CN" altLang="en-US" dirty="0"/>
              <a:t>格式等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可以是已经做好准备的配体库，也可以是未经过配体准备的库，在第三个选项卡</a:t>
            </a:r>
            <a:r>
              <a:rPr lang="en-US" altLang="zh-CN" dirty="0"/>
              <a:t>Preparation</a:t>
            </a:r>
            <a:r>
              <a:rPr lang="zh-CN" altLang="en-US" dirty="0"/>
              <a:t>中可以进行配体准备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如果选用了</a:t>
            </a:r>
            <a:r>
              <a:rPr lang="en-US" altLang="zh-CN" dirty="0"/>
              <a:t>smiles</a:t>
            </a:r>
            <a:r>
              <a:rPr lang="zh-CN" altLang="en-US" dirty="0"/>
              <a:t>格式的文件，记得文件内第一行需要是空行</a:t>
            </a:r>
          </a:p>
        </p:txBody>
      </p:sp>
    </p:spTree>
    <p:extLst>
      <p:ext uri="{BB962C8B-B14F-4D97-AF65-F5344CB8AC3E}">
        <p14:creationId xmlns:p14="http://schemas.microsoft.com/office/powerpoint/2010/main" val="3111124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">
            <a:extLst>
              <a:ext uri="{FF2B5EF4-FFF2-40B4-BE49-F238E27FC236}">
                <a16:creationId xmlns:a16="http://schemas.microsoft.com/office/drawing/2014/main" id="{63A1E24C-CD4A-D6F4-6122-25AC799BEEEE}"/>
              </a:ext>
            </a:extLst>
          </p:cNvPr>
          <p:cNvSpPr/>
          <p:nvPr/>
        </p:nvSpPr>
        <p:spPr>
          <a:xfrm flipV="1">
            <a:off x="408813" y="676828"/>
            <a:ext cx="11413996" cy="36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noFill/>
            <a:miter lim="400000"/>
          </a:ln>
        </p:spPr>
        <p:txBody>
          <a:bodyPr lIns="45719" rIns="45719" anchor="ctr"/>
          <a:lstStyle/>
          <a:p>
            <a:pPr defTabSz="412750">
              <a:defRPr sz="16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831CB2B-7C50-7025-3622-1B44F681B493}"/>
              </a:ext>
            </a:extLst>
          </p:cNvPr>
          <p:cNvSpPr txBox="1"/>
          <p:nvPr/>
        </p:nvSpPr>
        <p:spPr>
          <a:xfrm>
            <a:off x="408813" y="98884"/>
            <a:ext cx="3877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配体预过滤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60AA9E6-FB1E-6732-5324-A26F215C43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8519" y="1438347"/>
            <a:ext cx="5344668" cy="4169179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A9C72749-CC38-1A7E-74CD-08EBC926DAAC}"/>
              </a:ext>
            </a:extLst>
          </p:cNvPr>
          <p:cNvSpPr txBox="1"/>
          <p:nvPr/>
        </p:nvSpPr>
        <p:spPr>
          <a:xfrm>
            <a:off x="408813" y="1065606"/>
            <a:ext cx="5748910" cy="26298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/>
              <a:t>根据一定规则对配体库进行一些预处理</a:t>
            </a:r>
            <a:endParaRPr lang="en-US" altLang="zh-CN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/>
              <a:t>使用</a:t>
            </a:r>
            <a:r>
              <a:rPr lang="en-US" altLang="zh-CN" sz="1600" dirty="0" err="1"/>
              <a:t>QikProp</a:t>
            </a:r>
            <a:r>
              <a:rPr lang="zh-CN" altLang="en-US" sz="1600" dirty="0"/>
              <a:t>计算分子的理化性质</a:t>
            </a:r>
            <a:endParaRPr lang="en-US" altLang="zh-CN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/>
              <a:t>基于五规则过滤掉一些分子</a:t>
            </a:r>
            <a:endParaRPr lang="en-US" altLang="zh-CN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/>
              <a:t>去除带有反应基团的分子</a:t>
            </a:r>
            <a:endParaRPr lang="en-US" altLang="zh-CN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/>
              <a:t>自定义规则过滤分子</a:t>
            </a:r>
            <a:endParaRPr lang="en-US" altLang="zh-CN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/>
              <a:t>这一步不是必须的，特别是使用的库来源可靠时</a:t>
            </a:r>
            <a:r>
              <a:rPr lang="en-US" altLang="zh-CN" sz="1600" dirty="0"/>
              <a:t>(</a:t>
            </a:r>
            <a:r>
              <a:rPr lang="zh-CN" altLang="en-US" sz="1600" dirty="0"/>
              <a:t>如一些商业成药分子库</a:t>
            </a:r>
            <a:r>
              <a:rPr lang="en-US" altLang="zh-CN" sz="1600" dirty="0"/>
              <a:t>)</a:t>
            </a:r>
            <a:endParaRPr lang="zh-CN" altLang="en-US" sz="16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22E67EA-3773-2CB2-6FDA-42A7E49CCD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51" y="4048206"/>
            <a:ext cx="4549902" cy="2435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87305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">
            <a:extLst>
              <a:ext uri="{FF2B5EF4-FFF2-40B4-BE49-F238E27FC236}">
                <a16:creationId xmlns:a16="http://schemas.microsoft.com/office/drawing/2014/main" id="{63A1E24C-CD4A-D6F4-6122-25AC799BEEEE}"/>
              </a:ext>
            </a:extLst>
          </p:cNvPr>
          <p:cNvSpPr/>
          <p:nvPr/>
        </p:nvSpPr>
        <p:spPr>
          <a:xfrm flipV="1">
            <a:off x="408813" y="676828"/>
            <a:ext cx="11413996" cy="36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noFill/>
            <a:miter lim="400000"/>
          </a:ln>
        </p:spPr>
        <p:txBody>
          <a:bodyPr lIns="45719" rIns="45719" anchor="ctr"/>
          <a:lstStyle/>
          <a:p>
            <a:pPr defTabSz="412750">
              <a:defRPr sz="16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831CB2B-7C50-7025-3622-1B44F681B493}"/>
              </a:ext>
            </a:extLst>
          </p:cNvPr>
          <p:cNvSpPr txBox="1"/>
          <p:nvPr/>
        </p:nvSpPr>
        <p:spPr>
          <a:xfrm>
            <a:off x="408813" y="98884"/>
            <a:ext cx="3877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配体准备界面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DB941B9-7C17-32B2-75BC-A73467ABC7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8172" y="1561101"/>
            <a:ext cx="5298948" cy="4133515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DC64847F-1BAF-9A28-DB2F-DF5C1A33C9AD}"/>
              </a:ext>
            </a:extLst>
          </p:cNvPr>
          <p:cNvSpPr txBox="1"/>
          <p:nvPr/>
        </p:nvSpPr>
        <p:spPr>
          <a:xfrm>
            <a:off x="481965" y="2297664"/>
            <a:ext cx="5013579" cy="22626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/>
              <a:t>配体准备流程</a:t>
            </a:r>
            <a:endParaRPr lang="en-US" altLang="zh-CN" sz="1600" dirty="0"/>
          </a:p>
          <a:p>
            <a:pPr>
              <a:lnSpc>
                <a:spcPct val="150000"/>
              </a:lnSpc>
            </a:pPr>
            <a:endParaRPr lang="en-US" altLang="zh-CN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/>
              <a:t>如果输入的分子库是已经事先使用</a:t>
            </a:r>
            <a:r>
              <a:rPr lang="en-US" altLang="zh-CN" sz="1600" dirty="0" err="1"/>
              <a:t>ligprep</a:t>
            </a:r>
            <a:r>
              <a:rPr lang="zh-CN" altLang="en-US" sz="1600" dirty="0"/>
              <a:t>做过配体准备了，则此步骤不需要</a:t>
            </a:r>
            <a:endParaRPr lang="en-US" altLang="zh-CN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/>
              <a:t>一般不需要改变此处参数，直接进行配体准备即可</a:t>
            </a:r>
          </a:p>
        </p:txBody>
      </p:sp>
    </p:spTree>
    <p:extLst>
      <p:ext uri="{BB962C8B-B14F-4D97-AF65-F5344CB8AC3E}">
        <p14:creationId xmlns:p14="http://schemas.microsoft.com/office/powerpoint/2010/main" val="7292507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">
            <a:extLst>
              <a:ext uri="{FF2B5EF4-FFF2-40B4-BE49-F238E27FC236}">
                <a16:creationId xmlns:a16="http://schemas.microsoft.com/office/drawing/2014/main" id="{63A1E24C-CD4A-D6F4-6122-25AC799BEEEE}"/>
              </a:ext>
            </a:extLst>
          </p:cNvPr>
          <p:cNvSpPr/>
          <p:nvPr/>
        </p:nvSpPr>
        <p:spPr>
          <a:xfrm flipV="1">
            <a:off x="408813" y="676828"/>
            <a:ext cx="11413996" cy="36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noFill/>
            <a:miter lim="400000"/>
          </a:ln>
        </p:spPr>
        <p:txBody>
          <a:bodyPr lIns="45719" rIns="45719" anchor="ctr"/>
          <a:lstStyle/>
          <a:p>
            <a:pPr defTabSz="412750">
              <a:defRPr sz="16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831CB2B-7C50-7025-3622-1B44F681B493}"/>
              </a:ext>
            </a:extLst>
          </p:cNvPr>
          <p:cNvSpPr txBox="1"/>
          <p:nvPr/>
        </p:nvSpPr>
        <p:spPr>
          <a:xfrm>
            <a:off x="408813" y="98884"/>
            <a:ext cx="3877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添加蛋白质</a:t>
            </a:r>
            <a:r>
              <a:rPr lang="en-US" altLang="zh-CN" sz="2400" dirty="0"/>
              <a:t>GRID</a:t>
            </a:r>
            <a:endParaRPr lang="zh-CN" altLang="en-US" sz="24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EB44DC0-CE25-4D19-9E22-9E57E1D23C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544189"/>
            <a:ext cx="5335524" cy="4162046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AE924AC1-01A3-FDC5-3E1D-383A9B052673}"/>
              </a:ext>
            </a:extLst>
          </p:cNvPr>
          <p:cNvSpPr txBox="1"/>
          <p:nvPr/>
        </p:nvSpPr>
        <p:spPr>
          <a:xfrm>
            <a:off x="527685" y="1374120"/>
            <a:ext cx="5013579" cy="1154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/>
              <a:t>将事先做好的</a:t>
            </a:r>
            <a:r>
              <a:rPr lang="en-US" altLang="zh-CN" sz="1600" dirty="0"/>
              <a:t>receptor grid</a:t>
            </a:r>
            <a:r>
              <a:rPr lang="zh-CN" altLang="en-US" sz="1600" dirty="0"/>
              <a:t>添加，也可以在点击</a:t>
            </a:r>
            <a:r>
              <a:rPr lang="en-US" altLang="zh-CN" sz="1600" dirty="0"/>
              <a:t>add</a:t>
            </a:r>
            <a:r>
              <a:rPr lang="zh-CN" altLang="en-US" sz="1600" dirty="0"/>
              <a:t>之后使用</a:t>
            </a:r>
            <a:r>
              <a:rPr lang="en-US" altLang="zh-CN" sz="1600" dirty="0"/>
              <a:t>workspace</a:t>
            </a:r>
            <a:r>
              <a:rPr lang="zh-CN" altLang="en-US" sz="1600" dirty="0"/>
              <a:t>中的蛋白质现做一个</a:t>
            </a:r>
            <a:r>
              <a:rPr lang="en-US" altLang="zh-CN" sz="1600" dirty="0"/>
              <a:t>grid</a:t>
            </a:r>
            <a:r>
              <a:rPr lang="zh-CN" altLang="en-US" sz="1600" dirty="0"/>
              <a:t>，记得产生</a:t>
            </a:r>
            <a:r>
              <a:rPr lang="en-US" altLang="zh-CN" sz="1600" dirty="0"/>
              <a:t>grid</a:t>
            </a:r>
            <a:r>
              <a:rPr lang="zh-CN" altLang="en-US" sz="1600" dirty="0"/>
              <a:t>的蛋白必须是经过蛋白质准备的。</a:t>
            </a:r>
            <a:endParaRPr lang="en-US" altLang="zh-CN" sz="16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0C5CF50-A9AD-09EB-1418-7614BB1F0D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5" y="2897313"/>
            <a:ext cx="3790911" cy="2863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59225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">
            <a:extLst>
              <a:ext uri="{FF2B5EF4-FFF2-40B4-BE49-F238E27FC236}">
                <a16:creationId xmlns:a16="http://schemas.microsoft.com/office/drawing/2014/main" id="{63A1E24C-CD4A-D6F4-6122-25AC799BEEEE}"/>
              </a:ext>
            </a:extLst>
          </p:cNvPr>
          <p:cNvSpPr/>
          <p:nvPr/>
        </p:nvSpPr>
        <p:spPr>
          <a:xfrm flipV="1">
            <a:off x="408813" y="676828"/>
            <a:ext cx="11413996" cy="36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noFill/>
            <a:miter lim="400000"/>
          </a:ln>
        </p:spPr>
        <p:txBody>
          <a:bodyPr lIns="45719" rIns="45719" anchor="ctr"/>
          <a:lstStyle/>
          <a:p>
            <a:pPr defTabSz="412750">
              <a:defRPr sz="16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831CB2B-7C50-7025-3622-1B44F681B493}"/>
              </a:ext>
            </a:extLst>
          </p:cNvPr>
          <p:cNvSpPr txBox="1"/>
          <p:nvPr/>
        </p:nvSpPr>
        <p:spPr>
          <a:xfrm>
            <a:off x="408813" y="98884"/>
            <a:ext cx="3877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虚拟筛选工作流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BBA2FCB-3B39-A937-EA24-2A851667AA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12" y="1378407"/>
            <a:ext cx="4836685" cy="376696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4F811635-B7C0-6F9F-6C1F-7AE2CA21AE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821" y="904322"/>
            <a:ext cx="4772025" cy="5276850"/>
          </a:xfrm>
          <a:prstGeom prst="rect">
            <a:avLst/>
          </a:prstGeom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599B8697-3223-4926-C432-B990887F6E27}"/>
              </a:ext>
            </a:extLst>
          </p:cNvPr>
          <p:cNvSpPr/>
          <p:nvPr/>
        </p:nvSpPr>
        <p:spPr>
          <a:xfrm>
            <a:off x="6949821" y="4343400"/>
            <a:ext cx="2687955" cy="630936"/>
          </a:xfrm>
          <a:prstGeom prst="round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45DAED4-41A5-BA25-F5C0-0E1BE65045BF}"/>
              </a:ext>
            </a:extLst>
          </p:cNvPr>
          <p:cNvSpPr txBox="1"/>
          <p:nvPr/>
        </p:nvSpPr>
        <p:spPr>
          <a:xfrm>
            <a:off x="1060704" y="5719507"/>
            <a:ext cx="5715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保留多少分子：</a:t>
            </a:r>
            <a:endParaRPr lang="en-US" altLang="zh-CN" dirty="0"/>
          </a:p>
          <a:p>
            <a:r>
              <a:rPr lang="zh-CN" altLang="en-US" dirty="0"/>
              <a:t>一般对千万级的分子库，经过</a:t>
            </a:r>
            <a:r>
              <a:rPr lang="en-US" altLang="zh-CN" dirty="0"/>
              <a:t>HTVS-SP-XP</a:t>
            </a:r>
            <a:r>
              <a:rPr lang="zh-CN" altLang="en-US" dirty="0"/>
              <a:t>每次保留</a:t>
            </a:r>
            <a:r>
              <a:rPr lang="en-US" altLang="zh-CN" dirty="0"/>
              <a:t>10%</a:t>
            </a:r>
            <a:r>
              <a:rPr lang="zh-CN" altLang="en-US" dirty="0"/>
              <a:t>后剩下万级分子进行</a:t>
            </a:r>
            <a:r>
              <a:rPr lang="en-US" altLang="zh-CN" dirty="0"/>
              <a:t>GBSA</a:t>
            </a:r>
            <a:r>
              <a:rPr lang="zh-CN" altLang="en-US" dirty="0"/>
              <a:t>计算</a:t>
            </a: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5C49AD35-C247-7E72-8205-AE57D9886F1D}"/>
              </a:ext>
            </a:extLst>
          </p:cNvPr>
          <p:cNvCxnSpPr>
            <a:cxnSpLocks/>
          </p:cNvCxnSpPr>
          <p:nvPr/>
        </p:nvCxnSpPr>
        <p:spPr>
          <a:xfrm flipV="1">
            <a:off x="4059936" y="4846320"/>
            <a:ext cx="2715768" cy="10332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83606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">
            <a:extLst>
              <a:ext uri="{FF2B5EF4-FFF2-40B4-BE49-F238E27FC236}">
                <a16:creationId xmlns:a16="http://schemas.microsoft.com/office/drawing/2014/main" id="{63A1E24C-CD4A-D6F4-6122-25AC799BEEEE}"/>
              </a:ext>
            </a:extLst>
          </p:cNvPr>
          <p:cNvSpPr/>
          <p:nvPr/>
        </p:nvSpPr>
        <p:spPr>
          <a:xfrm flipV="1">
            <a:off x="408813" y="676828"/>
            <a:ext cx="11413996" cy="36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noFill/>
            <a:miter lim="400000"/>
          </a:ln>
        </p:spPr>
        <p:txBody>
          <a:bodyPr lIns="45719" rIns="45719" anchor="ctr"/>
          <a:lstStyle/>
          <a:p>
            <a:pPr defTabSz="412750">
              <a:defRPr sz="16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831CB2B-7C50-7025-3622-1B44F681B493}"/>
              </a:ext>
            </a:extLst>
          </p:cNvPr>
          <p:cNvSpPr txBox="1"/>
          <p:nvPr/>
        </p:nvSpPr>
        <p:spPr>
          <a:xfrm>
            <a:off x="408813" y="98884"/>
            <a:ext cx="3877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添加</a:t>
            </a:r>
            <a:r>
              <a:rPr lang="en-US" altLang="zh-CN" sz="2400" dirty="0"/>
              <a:t>MM-GBSA</a:t>
            </a:r>
            <a:r>
              <a:rPr lang="zh-CN" altLang="en-US" sz="2400" dirty="0"/>
              <a:t>计算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E6A3A8D-8ECB-C7A4-D68F-3A7BBC9863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305" y="1296719"/>
            <a:ext cx="4165978" cy="460669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A44A7D93-7CCF-A73B-18F2-9023767FF2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2945" y="1442382"/>
            <a:ext cx="5101537" cy="3973235"/>
          </a:xfrm>
          <a:prstGeom prst="rect">
            <a:avLst/>
          </a:prstGeom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BAE914B9-903F-2885-E354-D1C513F98FDE}"/>
              </a:ext>
            </a:extLst>
          </p:cNvPr>
          <p:cNvSpPr/>
          <p:nvPr/>
        </p:nvSpPr>
        <p:spPr>
          <a:xfrm>
            <a:off x="222305" y="3493008"/>
            <a:ext cx="3440620" cy="292608"/>
          </a:xfrm>
          <a:prstGeom prst="round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AE086D1B-9123-4EF0-D751-493C75F0CCA2}"/>
              </a:ext>
            </a:extLst>
          </p:cNvPr>
          <p:cNvSpPr/>
          <p:nvPr/>
        </p:nvSpPr>
        <p:spPr>
          <a:xfrm>
            <a:off x="6925628" y="3639312"/>
            <a:ext cx="2355532" cy="256032"/>
          </a:xfrm>
          <a:prstGeom prst="round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47718F0-1A18-F017-6428-71A518122D82}"/>
              </a:ext>
            </a:extLst>
          </p:cNvPr>
          <p:cNvSpPr txBox="1"/>
          <p:nvPr/>
        </p:nvSpPr>
        <p:spPr>
          <a:xfrm>
            <a:off x="4510966" y="3185451"/>
            <a:ext cx="210014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为了进行</a:t>
            </a:r>
            <a:r>
              <a:rPr lang="en-US" altLang="zh-CN" dirty="0"/>
              <a:t>GBSA</a:t>
            </a:r>
            <a:r>
              <a:rPr lang="zh-CN" altLang="en-US" dirty="0"/>
              <a:t>计算，需要将对接的最后一步保留</a:t>
            </a:r>
            <a:r>
              <a:rPr lang="en-US" altLang="zh-CN" dirty="0"/>
              <a:t>pose</a:t>
            </a:r>
            <a:r>
              <a:rPr lang="zh-CN" altLang="en-US" dirty="0"/>
              <a:t>设置为</a:t>
            </a:r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6E8B2F6C-9BDE-6D98-025D-CF313A1E1693}"/>
              </a:ext>
            </a:extLst>
          </p:cNvPr>
          <p:cNvSpPr/>
          <p:nvPr/>
        </p:nvSpPr>
        <p:spPr>
          <a:xfrm>
            <a:off x="11082528" y="4846320"/>
            <a:ext cx="821954" cy="365760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1809207-9A87-7F9D-AE9B-9E9630FC638A}"/>
              </a:ext>
            </a:extLst>
          </p:cNvPr>
          <p:cNvSpPr txBox="1"/>
          <p:nvPr/>
        </p:nvSpPr>
        <p:spPr>
          <a:xfrm>
            <a:off x="5561039" y="5718743"/>
            <a:ext cx="65322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可以</a:t>
            </a:r>
            <a:r>
              <a:rPr lang="en-US" altLang="zh-CN" dirty="0"/>
              <a:t>run</a:t>
            </a:r>
            <a:r>
              <a:rPr lang="zh-CN" altLang="en-US" dirty="0"/>
              <a:t>了，一般</a:t>
            </a:r>
            <a:r>
              <a:rPr lang="en-US" altLang="zh-CN" dirty="0"/>
              <a:t>200</a:t>
            </a:r>
            <a:r>
              <a:rPr lang="zh-CN" altLang="en-US" dirty="0"/>
              <a:t>个</a:t>
            </a:r>
            <a:r>
              <a:rPr lang="en-US" altLang="zh-CN" dirty="0" err="1"/>
              <a:t>cpu</a:t>
            </a:r>
            <a:r>
              <a:rPr lang="zh-CN" altLang="en-US" dirty="0"/>
              <a:t>核</a:t>
            </a:r>
            <a:r>
              <a:rPr lang="en-US" altLang="zh-CN" dirty="0"/>
              <a:t>10</a:t>
            </a:r>
            <a:r>
              <a:rPr lang="zh-CN" altLang="en-US" dirty="0"/>
              <a:t>天以内可以筛选完千万级别库</a:t>
            </a:r>
          </a:p>
        </p:txBody>
      </p:sp>
    </p:spTree>
    <p:extLst>
      <p:ext uri="{BB962C8B-B14F-4D97-AF65-F5344CB8AC3E}">
        <p14:creationId xmlns:p14="http://schemas.microsoft.com/office/powerpoint/2010/main" val="29859575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Arial"/>
        <a:ea typeface="楷体"/>
        <a:cs typeface=""/>
      </a:majorFont>
      <a:minorFont>
        <a:latin typeface="Arial"/>
        <a:ea typeface="楷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298</Words>
  <Application>Microsoft Office PowerPoint</Application>
  <PresentationFormat>宽屏</PresentationFormat>
  <Paragraphs>44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0" baseType="lpstr">
      <vt:lpstr>Arial</vt:lpstr>
      <vt:lpstr>Office 主题​​</vt:lpstr>
      <vt:lpstr>Virtual Screening Workflow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昱 郭</dc:creator>
  <cp:lastModifiedBy>昱 郭</cp:lastModifiedBy>
  <cp:revision>37</cp:revision>
  <dcterms:created xsi:type="dcterms:W3CDTF">2024-09-22T03:42:19Z</dcterms:created>
  <dcterms:modified xsi:type="dcterms:W3CDTF">2024-09-26T15:11:49Z</dcterms:modified>
</cp:coreProperties>
</file>